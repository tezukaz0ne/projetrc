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?>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3" r:id="rId24"/>
    <p:sldId id="274" r:id="rId25"/>
    <p:sldId id="271" r:id="rId17"/>
    <p:sldId id="272" r:id="rId18"/>
  </p:sldIdLst>
  <p:notesMasterIdLst>
    <p:notesMasterId r:id="rId1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8.xml"/><Relationship Id="rId18" Type="http://schemas.openxmlformats.org/officeDocument/2006/relationships/slide" Target="slides/slide19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Relationship Id="rId24" Type="http://schemas.openxmlformats.org/officeDocument/2006/relationships/slide" Target="slides/slide16.xml"/><Relationship Id="rId25" Type="http://schemas.openxmlformats.org/officeDocument/2006/relationships/slide" Target="slides/slide17.xml"/></Relationships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7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image" Target="../media/image-php-dashboard.png"/><Relationship Id="rId2" Type="http://schemas.openxmlformats.org/officeDocument/2006/relationships/slideLayout" Target="../slideLayouts/slideLayout1.xml"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Relationship Id="rId5" Type="http://schemas.openxmlformats.org/officeDocument/2006/relationships/image" Target="../media/image1.png"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image" Target="../media/image-17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2B5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0" y="857250"/>
            <a:ext cx="4572000" cy="3429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5029200" cy="5143500"/>
          </a:xfrm>
          <a:prstGeom prst="rect">
            <a:avLst/>
          </a:prstGeom>
          <a:solidFill>
            <a:srgbClr val="0D2B55">
              <a:alpha val="95000"/>
            </a:srgbClr>
          </a:solidFill>
          <a:ln w="12700">
            <a:solidFill>
              <a:srgbClr val="0D2B55"/>
            </a:solidFill>
            <a:prstDash val="solid"/>
          </a:ln>
        </p:spPr>
        <p:txBody>
          <a:bodyPr/>
          <a:p/>
        </p:txBody>
      </p:sp>
      <p:sp>
        <p:nvSpPr>
          <p:cNvPr id="4" name="Shape 1"/>
          <p:cNvSpPr/>
          <p:nvPr/>
        </p:nvSpPr>
        <p:spPr>
          <a:xfrm>
            <a:off x="4846320" y="0"/>
            <a:ext cx="64008" cy="5143500"/>
          </a:xfrm>
          <a:prstGeom prst="rect">
            <a:avLst/>
          </a:prstGeom>
          <a:solidFill>
            <a:srgbClr val="21C9A0"/>
          </a:solidFill>
          <a:ln w="12700">
            <a:solidFill>
              <a:srgbClr val="21C9A0"/>
            </a:solidFill>
            <a:prstDash val="solid"/>
          </a:ln>
        </p:spPr>
        <p:txBody>
          <a:bodyPr/>
          <a:p/>
        </p:txBody>
      </p:sp>
      <p:sp>
        <p:nvSpPr>
          <p:cNvPr id="5" name="Shape 2"/>
          <p:cNvSpPr/>
          <p:nvPr/>
        </p:nvSpPr>
        <p:spPr>
          <a:xfrm>
            <a:off x="457200" y="365760"/>
            <a:ext cx="2011680" cy="347472"/>
          </a:xfrm>
          <a:prstGeom prst="roundRect">
            <a:avLst>
              <a:gd name="adj" fmla="val 13158"/>
            </a:avLst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457200" y="365760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BTS CIEL ER · 2025-2026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457200" y="822960"/>
            <a:ext cx="42976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fr-FR" sz="3200" b="1" dirty="0">
                <a:solidFill>
                  <a:srgbClr val="FFFFFF"/>
                </a:solidFill>
                <a:latin typeface="Calibri" pitchFamily="34" charset="0"/>
              </a:rPr>
              <a:t>Instrumentation d’un</a:t>
            </a:r>
          </a:p>
          <a:p>
            <a:pPr indent="0" marL="0">
              <a:buNone/>
            </a:pPr>
            <a:r>
              <a:rPr lang="fr-FR" sz="4000" b="1" dirty="0">
                <a:solidFill>
                  <a:srgbClr val="21C9A0"/>
                </a:solidFill>
                <a:latin typeface="Calibri" pitchFamily="34" charset="0"/>
              </a:rPr>
              <a:t>banc d’essai RC</a:t>
            </a:r>
            <a:endParaRPr lang="fr-FR" sz="4000" dirty="0"/>
          </a:p>
        </p:txBody>
      </p:sp>
      <p:sp>
        <p:nvSpPr>
          <p:cNvPr id="9" name="Text 6"/>
          <p:cNvSpPr/>
          <p:nvPr/>
        </p:nvSpPr>
        <p:spPr>
          <a:xfrm>
            <a:off x="457200" y="2286000"/>
            <a:ext cx="4297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A8C8D8"/>
                </a:solidFill>
              </a:rPr>
              <a:t>Revue de Projet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457200" y="2788920"/>
            <a:ext cx="3657600" cy="0"/>
          </a:xfrm>
          <a:prstGeom prst="line">
            <a:avLst/>
          </a:prstGeom>
          <a:noFill/>
          <a:ln w="19050">
            <a:solidFill>
              <a:srgbClr val="21C9A0"/>
            </a:solidFill>
            <a:prstDash val="solid"/>
          </a:ln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457200" y="2926080"/>
            <a:ext cx="4297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AIT AMIR Youssouf  ·  DUCHATEAU Edouard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A8C8D8"/>
                </a:solidFill>
              </a:rPr>
              <a:t>Encadrant : M. BEAU  ·  Partenaire : FVRC Mini RC de Marigny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457200" y="4389120"/>
            <a:ext cx="4297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890A0"/>
                </a:solidFill>
              </a:rPr>
              <a:t>Lycée Général et Technologique Baggio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8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D2B55"/>
          </a:solidFill>
          <a:ln w="12700">
            <a:solidFill>
              <a:srgbClr val="0D2B5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Sommaire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11480" y="1234440"/>
            <a:ext cx="411480" cy="41148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12344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01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914400" y="1252728"/>
            <a:ext cx="3566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B3C"/>
                </a:solidFill>
              </a:rPr>
              <a:t>Contexte &amp; identification du besoin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11480" y="1920240"/>
            <a:ext cx="411480" cy="41148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9202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02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14400" y="1938528"/>
            <a:ext cx="3566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B3C"/>
                </a:solidFill>
              </a:rPr>
              <a:t>Architecture du système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11480" y="2606040"/>
            <a:ext cx="411480" cy="41148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11480" y="26060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03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914400" y="2624328"/>
            <a:ext cx="3566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B3C"/>
                </a:solidFill>
              </a:rPr>
              <a:t>Matériel du projet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11480" y="3291840"/>
            <a:ext cx="411480" cy="41148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11480" y="32918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04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914400" y="3310128"/>
            <a:ext cx="3566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B3C"/>
                </a:solidFill>
              </a:rPr>
              <a:t>Module NFC/RFID – Mise en œuvre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11480" y="3977640"/>
            <a:ext cx="411480" cy="41148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11480" y="39776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05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914400" y="3995928"/>
            <a:ext cx="3566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B3C"/>
                </a:solidFill>
              </a:rPr>
              <a:t>Serveur Raspberry Pi (LAMP)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800600" y="1234440"/>
            <a:ext cx="411480" cy="411480"/>
          </a:xfrm>
          <a:prstGeom prst="rect">
            <a:avLst/>
          </a:prstGeom>
          <a:solidFill>
            <a:srgbClr val="F4844A"/>
          </a:solidFill>
          <a:ln w="12700">
            <a:solidFill>
              <a:srgbClr val="F4844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800600" y="12344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06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303520" y="1252728"/>
            <a:ext cx="3566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B3C"/>
                </a:solidFill>
              </a:rPr>
              <a:t>Réseau &amp; VPN Tailscale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4800600" y="1920240"/>
            <a:ext cx="411480" cy="411480"/>
          </a:xfrm>
          <a:prstGeom prst="rect">
            <a:avLst/>
          </a:prstGeom>
          <a:solidFill>
            <a:srgbClr val="F4844A"/>
          </a:solidFill>
          <a:ln w="12700">
            <a:solidFill>
              <a:srgbClr val="F4844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800600" y="19202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07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303520" y="1938528"/>
            <a:ext cx="3566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B3C"/>
                </a:solidFill>
              </a:rPr>
              <a:t>Développement logiciel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4800600" y="2606040"/>
            <a:ext cx="411480" cy="411480"/>
          </a:xfrm>
          <a:prstGeom prst="rect">
            <a:avLst/>
          </a:prstGeom>
          <a:solidFill>
            <a:srgbClr val="F4844A"/>
          </a:solidFill>
          <a:ln w="12700">
            <a:solidFill>
              <a:srgbClr val="F484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00600" y="26060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08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5303520" y="2624328"/>
            <a:ext cx="3566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B3C"/>
                </a:solidFill>
              </a:rPr>
              <a:t>Module A6 – GSM &amp; alertes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800600" y="3291840"/>
            <a:ext cx="411480" cy="411480"/>
          </a:xfrm>
          <a:prstGeom prst="rect">
            <a:avLst/>
          </a:prstGeom>
          <a:solidFill>
            <a:srgbClr val="F4844A"/>
          </a:solidFill>
          <a:ln w="12700">
            <a:solidFill>
              <a:srgbClr val="F4844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800600" y="32918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09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5303520" y="3310128"/>
            <a:ext cx="3566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B3C"/>
                </a:solidFill>
              </a:rPr>
              <a:t>Difficultés &amp; solutions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4800600" y="3977640"/>
            <a:ext cx="411480" cy="411480"/>
          </a:xfrm>
          <a:prstGeom prst="rect">
            <a:avLst/>
          </a:prstGeom>
          <a:solidFill>
            <a:srgbClr val="F4844A"/>
          </a:solidFill>
          <a:ln w="12700">
            <a:solidFill>
              <a:srgbClr val="F4844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800600" y="39776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10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5303520" y="3995928"/>
            <a:ext cx="3566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B3C"/>
                </a:solidFill>
              </a:rPr>
              <a:t>Diagramme des exigences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8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D2B55"/>
          </a:solidFill>
          <a:ln w="12700">
            <a:solidFill>
              <a:srgbClr val="0D2B5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01 · Contexte &amp; identification du besoin</a:t>
            </a:r>
            <a:endParaRPr lang="en-US" sz="22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916337" y="1143000"/>
            <a:ext cx="2556446" cy="2743200"/>
          </a:xfrm>
          <a:prstGeom prst="rect">
            <a:avLst/>
          </a:prstGeom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pic>
      <p:sp>
        <p:nvSpPr>
          <p:cNvPr id="5" name="Text 2"/>
          <p:cNvSpPr/>
          <p:nvPr/>
        </p:nvSpPr>
        <p:spPr>
          <a:xfrm>
            <a:off x="4389120" y="1143000"/>
            <a:ext cx="4480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7293"/>
                </a:solidFill>
              </a:rPr>
              <a:t>Pourquoi ce projet ?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4389120" y="1600200"/>
            <a:ext cx="44805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B3C"/>
                </a:solidFill>
              </a:rPr>
              <a:t>Le club FVRC – Mini RC de Marigny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A2B3C"/>
                </a:solidFill>
              </a:rPr>
              <a:t>participe à des compétitions officielles de voitures RC. Avant chaque course, les pilotes doivent optimiser leurs réglages sans outil de mesure adapté.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4389120" y="269748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7293"/>
                </a:solidFill>
              </a:rPr>
              <a:t>L'objectif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4389120" y="3108960"/>
            <a:ext cx="44805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2B3C"/>
                </a:solidFill>
              </a:rPr>
              <a:t>Mesurer vitesse, tension, courant sur banc d'essai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2B3C"/>
                </a:solidFill>
              </a:rPr>
              <a:t>Identifier les voitures par RFID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2B3C"/>
                </a:solidFill>
              </a:rPr>
              <a:t>Enregistrer et visualiser les performances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2B3C"/>
                </a:solidFill>
              </a:rPr>
              <a:t>Accès web depuis smartphone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389120" y="4572000"/>
            <a:ext cx="4480560" cy="320040"/>
          </a:xfrm>
          <a:prstGeom prst="roundRect">
            <a:avLst>
              <a:gd name="adj" fmla="val 14286"/>
            </a:avLst>
          </a:prstGeom>
          <a:solidFill>
            <a:srgbClr val="21C9A0">
              <a:alpha val="80000"/>
            </a:srgbClr>
          </a:solidFill>
          <a:ln w="12700">
            <a:solidFill>
              <a:srgbClr val="21C9A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389120" y="457200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D2B55"/>
                </a:solidFill>
              </a:rPr>
              <a:t>Partenaire : FVRC · Normes compétition Mini RC de Marigny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D2B55"/>
          </a:solidFill>
          <a:ln w="12700">
            <a:solidFill>
              <a:srgbClr val="0D2B5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01 · Cas d'utilisation</a:t>
            </a:r>
            <a:endParaRPr lang="en-US" sz="22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1097280"/>
            <a:ext cx="5486400" cy="3657600"/>
          </a:xfrm>
          <a:prstGeom prst="rect">
            <a:avLst/>
          </a:prstGeom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pic>
      <p:sp>
        <p:nvSpPr>
          <p:cNvPr id="5" name="Shape 2"/>
          <p:cNvSpPr/>
          <p:nvPr/>
        </p:nvSpPr>
        <p:spPr>
          <a:xfrm>
            <a:off x="6126480" y="1280160"/>
            <a:ext cx="64008" cy="73152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263640" y="1307592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B3C"/>
                </a:solidFill>
              </a:rPr>
              <a:t>Commissaire de course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6263640" y="1627632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7A8A"/>
                </a:solidFill>
              </a:rPr>
              <a:t>Gère et démarre la course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6126480" y="2286000"/>
            <a:ext cx="64008" cy="73152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263640" y="2313432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B3C"/>
                </a:solidFill>
              </a:rPr>
              <a:t>Employé (officiel)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263640" y="2633472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7A8A"/>
                </a:solidFill>
              </a:rPr>
              <a:t>Inscriptions &amp; séries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6126480" y="3291840"/>
            <a:ext cx="64008" cy="73152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263640" y="3319272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B3C"/>
                </a:solidFill>
              </a:rPr>
              <a:t>Participant (pilote)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6263640" y="3639312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7A8A"/>
                </a:solidFill>
              </a:rPr>
              <a:t>Réglages &amp; résultats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126480" y="4389120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A7A8A"/>
                </a:solidFill>
              </a:rPr>
              <a:t>Système : banc d'essai instrumenté · normes FVRC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2B5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 · Architecture du système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8229600" cy="0"/>
          </a:xfrm>
          <a:prstGeom prst="line">
            <a:avLst/>
          </a:prstGeom>
          <a:noFill/>
          <a:ln w="12700">
            <a:solidFill>
              <a:srgbClr val="21C9A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74320" y="1005840"/>
            <a:ext cx="8595360" cy="960120"/>
          </a:xfrm>
          <a:prstGeom prst="rect">
            <a:avLst/>
          </a:prstGeom>
          <a:solidFill>
            <a:srgbClr val="1C3A5E"/>
          </a:solidFill>
          <a:ln w="6350">
            <a:solidFill>
              <a:srgbClr val="1C729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024128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1C9A0"/>
                </a:solidFill>
              </a:rPr>
              <a:t>Couche Acquisition – Arduino UNO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1298448"/>
            <a:ext cx="1417320" cy="548640"/>
          </a:xfrm>
          <a:prstGeom prst="roundRect">
            <a:avLst>
              <a:gd name="adj" fmla="val 10000"/>
            </a:avLst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298448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NFC PN532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(I2C)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084832" y="1298448"/>
            <a:ext cx="1417320" cy="548640"/>
          </a:xfrm>
          <a:prstGeom prst="roundRect">
            <a:avLst>
              <a:gd name="adj" fmla="val 10000"/>
            </a:avLst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084832" y="1298448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LM393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Vitesse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712464" y="1298448"/>
            <a:ext cx="1417320" cy="548640"/>
          </a:xfrm>
          <a:prstGeom prst="roundRect">
            <a:avLst>
              <a:gd name="adj" fmla="val 10000"/>
            </a:avLst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712464" y="1298448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Sonde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Tension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340096" y="1298448"/>
            <a:ext cx="1417320" cy="548640"/>
          </a:xfrm>
          <a:prstGeom prst="roundRect">
            <a:avLst>
              <a:gd name="adj" fmla="val 10000"/>
            </a:avLst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340096" y="1298448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Sonde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Courant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967728" y="1298448"/>
            <a:ext cx="1417320" cy="548640"/>
          </a:xfrm>
          <a:prstGeom prst="roundRect">
            <a:avLst>
              <a:gd name="adj" fmla="val 10000"/>
            </a:avLst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967728" y="1298448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Nextion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(UART)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480560" y="1965960"/>
            <a:ext cx="0" cy="320040"/>
          </a:xfrm>
          <a:prstGeom prst="line">
            <a:avLst/>
          </a:prstGeom>
          <a:noFill/>
          <a:ln w="25400">
            <a:solidFill>
              <a:srgbClr val="21C9A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200400" y="2011680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A8C8D8"/>
                </a:solidFill>
              </a:rPr>
              <a:t>USB série 115200 bds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2560320" y="2304288"/>
            <a:ext cx="4023360" cy="502920"/>
          </a:xfrm>
          <a:prstGeom prst="roundRect">
            <a:avLst>
              <a:gd name="adj" fmla="val 10909"/>
            </a:avLst>
          </a:prstGeom>
          <a:solidFill>
            <a:srgbClr val="F4844A"/>
          </a:solidFill>
          <a:ln w="12700">
            <a:solidFill>
              <a:srgbClr val="F4844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60320" y="2304288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UID_Check.py (Python) – Relais Arduino ↔ Serveur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480560" y="2807208"/>
            <a:ext cx="0" cy="274320"/>
          </a:xfrm>
          <a:prstGeom prst="line">
            <a:avLst/>
          </a:prstGeom>
          <a:noFill/>
          <a:ln w="25400">
            <a:solidFill>
              <a:srgbClr val="21C9A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200400" y="283464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A8C8D8"/>
                </a:solidFill>
              </a:rPr>
              <a:t>HTTP via Tailscale VPN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274320" y="3081528"/>
            <a:ext cx="8595360" cy="1097280"/>
          </a:xfrm>
          <a:prstGeom prst="rect">
            <a:avLst/>
          </a:prstGeom>
          <a:solidFill>
            <a:srgbClr val="1C3A5E"/>
          </a:solidFill>
          <a:ln w="6350">
            <a:solidFill>
              <a:srgbClr val="21C9A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7200" y="3108960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1C9A0"/>
                </a:solidFill>
              </a:rPr>
              <a:t>Serveur Raspberry Pi 5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57200" y="3364992"/>
            <a:ext cx="1417320" cy="640080"/>
          </a:xfrm>
          <a:prstGeom prst="roundRect">
            <a:avLst>
              <a:gd name="adj" fmla="val 8571"/>
            </a:avLst>
          </a:prstGeom>
          <a:solidFill>
            <a:srgbClr val="065A82"/>
          </a:solidFill>
          <a:ln w="6350">
            <a:solidFill>
              <a:srgbClr val="1C729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7200" y="3364992"/>
            <a:ext cx="1417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Apache 2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+ PHP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2084832" y="3364992"/>
            <a:ext cx="1417320" cy="640080"/>
          </a:xfrm>
          <a:prstGeom prst="roundRect">
            <a:avLst>
              <a:gd name="adj" fmla="val 8571"/>
            </a:avLst>
          </a:prstGeom>
          <a:solidFill>
            <a:srgbClr val="065A82"/>
          </a:solidFill>
          <a:ln w="6350">
            <a:solidFill>
              <a:srgbClr val="1C729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084832" y="3364992"/>
            <a:ext cx="1417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MariaDB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BDD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712464" y="3364992"/>
            <a:ext cx="1417320" cy="640080"/>
          </a:xfrm>
          <a:prstGeom prst="roundRect">
            <a:avLst>
              <a:gd name="adj" fmla="val 8571"/>
            </a:avLst>
          </a:prstGeom>
          <a:solidFill>
            <a:srgbClr val="065A82"/>
          </a:solidFill>
          <a:ln w="6350">
            <a:solidFill>
              <a:srgbClr val="1C729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712464" y="3364992"/>
            <a:ext cx="1417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Grafana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Dashboard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340096" y="3364992"/>
            <a:ext cx="1417320" cy="640080"/>
          </a:xfrm>
          <a:prstGeom prst="roundRect">
            <a:avLst>
              <a:gd name="adj" fmla="val 8571"/>
            </a:avLst>
          </a:prstGeom>
          <a:solidFill>
            <a:srgbClr val="065A82"/>
          </a:solidFill>
          <a:ln w="6350">
            <a:solidFill>
              <a:srgbClr val="1C729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340096" y="3364992"/>
            <a:ext cx="1417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phpMyAdmin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967728" y="3364992"/>
            <a:ext cx="1417320" cy="640080"/>
          </a:xfrm>
          <a:prstGeom prst="roundRect">
            <a:avLst>
              <a:gd name="adj" fmla="val 8571"/>
            </a:avLst>
          </a:prstGeom>
          <a:solidFill>
            <a:srgbClr val="065A82"/>
          </a:solidFill>
          <a:ln w="6350">
            <a:solidFill>
              <a:srgbClr val="1C729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967728" y="3364992"/>
            <a:ext cx="1417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Tailscale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VPN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4480560" y="4178808"/>
            <a:ext cx="0" cy="274320"/>
          </a:xfrm>
          <a:prstGeom prst="line">
            <a:avLst/>
          </a:prstGeom>
          <a:noFill/>
          <a:ln w="25400">
            <a:solidFill>
              <a:srgbClr val="21C9A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743200" y="420624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A8C8D8"/>
                </a:solidFill>
              </a:rPr>
              <a:t>Interface web / accès distant Tailscale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1097280" y="4453128"/>
            <a:ext cx="1508760" cy="502920"/>
          </a:xfrm>
          <a:prstGeom prst="roundRect">
            <a:avLst>
              <a:gd name="adj" fmla="val 10909"/>
            </a:avLst>
          </a:prstGeom>
          <a:solidFill>
            <a:srgbClr val="36454F"/>
          </a:solidFill>
          <a:ln w="6350">
            <a:solidFill>
              <a:srgbClr val="5A7A8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097280" y="4453128"/>
            <a:ext cx="1508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Interface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web PHP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2926080" y="4453128"/>
            <a:ext cx="1508760" cy="502920"/>
          </a:xfrm>
          <a:prstGeom prst="roundRect">
            <a:avLst>
              <a:gd name="adj" fmla="val 10909"/>
            </a:avLst>
          </a:prstGeom>
          <a:solidFill>
            <a:srgbClr val="36454F"/>
          </a:solidFill>
          <a:ln w="6350">
            <a:solidFill>
              <a:srgbClr val="5A7A8A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926080" y="4453128"/>
            <a:ext cx="1508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phpMyAdmin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4754880" y="4453128"/>
            <a:ext cx="1508760" cy="502920"/>
          </a:xfrm>
          <a:prstGeom prst="roundRect">
            <a:avLst>
              <a:gd name="adj" fmla="val 10909"/>
            </a:avLst>
          </a:prstGeom>
          <a:solidFill>
            <a:srgbClr val="36454F"/>
          </a:solidFill>
          <a:ln w="6350">
            <a:solidFill>
              <a:srgbClr val="5A7A8A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754880" y="4453128"/>
            <a:ext cx="1508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Notebook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Jupyter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6583680" y="4453128"/>
            <a:ext cx="1508760" cy="502920"/>
          </a:xfrm>
          <a:prstGeom prst="roundRect">
            <a:avLst>
              <a:gd name="adj" fmla="val 10909"/>
            </a:avLst>
          </a:prstGeom>
          <a:solidFill>
            <a:srgbClr val="36454F"/>
          </a:solidFill>
          <a:ln w="6350">
            <a:solidFill>
              <a:srgbClr val="5A7A8A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583680" y="4453128"/>
            <a:ext cx="1508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GSM A6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(prévu)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8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D2B55"/>
          </a:solidFill>
          <a:ln w="12700">
            <a:solidFill>
              <a:srgbClr val="0D2B5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03 · Matériel du projet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1097280"/>
            <a:ext cx="1965960" cy="3474720"/>
          </a:xfrm>
          <a:prstGeom prst="rect">
            <a:avLst/>
          </a:prstGeom>
          <a:solidFill>
            <a:srgbClr val="FFFFFF"/>
          </a:solidFill>
          <a:ln w="6350">
            <a:solidFill>
              <a:srgbClr val="D0E4E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11480" y="1413697"/>
            <a:ext cx="1691640" cy="1561726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274320" y="3218688"/>
            <a:ext cx="1965960" cy="347472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274320" y="3218688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Arduino UNO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274320" y="3566160"/>
            <a:ext cx="196596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7A8A"/>
                </a:solidFill>
              </a:rPr>
              <a:t>Acquisition locale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5A7A8A"/>
                </a:solidFill>
              </a:rPr>
              <a:t>I2C / UART / USB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2468880" y="1097280"/>
            <a:ext cx="1965960" cy="3474720"/>
          </a:xfrm>
          <a:prstGeom prst="rect">
            <a:avLst/>
          </a:prstGeom>
          <a:solidFill>
            <a:srgbClr val="FFFFFF"/>
          </a:solidFill>
          <a:ln w="6350">
            <a:solidFill>
              <a:srgbClr val="D0E4E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606040" y="1606163"/>
            <a:ext cx="1691640" cy="1176793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2468880" y="3218688"/>
            <a:ext cx="1965960" cy="347472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2468880" y="3218688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Module PN532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2468880" y="3566160"/>
            <a:ext cx="196596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7A8A"/>
                </a:solidFill>
              </a:rPr>
              <a:t>NFC/RFID 13,56 MHz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5A7A8A"/>
                </a:solidFill>
              </a:rPr>
              <a:t>Protocole I2C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4663440" y="1097280"/>
            <a:ext cx="1965960" cy="3474720"/>
          </a:xfrm>
          <a:prstGeom prst="rect">
            <a:avLst/>
          </a:prstGeom>
          <a:solidFill>
            <a:srgbClr val="FFFFFF"/>
          </a:solidFill>
          <a:ln w="6350">
            <a:solidFill>
              <a:srgbClr val="D0E4E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800600" y="1723423"/>
            <a:ext cx="1691640" cy="942273"/>
          </a:xfrm>
          <a:prstGeom prst="rect">
            <a:avLst/>
          </a:prstGeom>
        </p:spPr>
      </p:pic>
      <p:sp>
        <p:nvSpPr>
          <p:cNvPr id="16" name="Shape 11"/>
          <p:cNvSpPr/>
          <p:nvPr/>
        </p:nvSpPr>
        <p:spPr>
          <a:xfrm>
            <a:off x="4663440" y="3218688"/>
            <a:ext cx="1965960" cy="347472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7" name="Text 12"/>
          <p:cNvSpPr/>
          <p:nvPr/>
        </p:nvSpPr>
        <p:spPr>
          <a:xfrm>
            <a:off x="4663440" y="3218688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Nextion 2,8"</a:t>
            </a:r>
            <a:endParaRPr lang="en-US" sz="1200" dirty="0"/>
          </a:p>
        </p:txBody>
      </p:sp>
      <p:sp>
        <p:nvSpPr>
          <p:cNvPr id="18" name="Text 13"/>
          <p:cNvSpPr/>
          <p:nvPr/>
        </p:nvSpPr>
        <p:spPr>
          <a:xfrm>
            <a:off x="4663440" y="3566160"/>
            <a:ext cx="196596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7A8A"/>
                </a:solidFill>
              </a:rPr>
              <a:t>Affichage tactile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5A7A8A"/>
                </a:solidFill>
              </a:rPr>
              <a:t>UART 9600 bds</a:t>
            </a:r>
            <a:endParaRPr lang="en-US" sz="1000" dirty="0"/>
          </a:p>
        </p:txBody>
      </p:sp>
      <p:sp>
        <p:nvSpPr>
          <p:cNvPr id="19" name="Shape 14"/>
          <p:cNvSpPr/>
          <p:nvPr/>
        </p:nvSpPr>
        <p:spPr>
          <a:xfrm>
            <a:off x="6858000" y="1097280"/>
            <a:ext cx="1965960" cy="3474720"/>
          </a:xfrm>
          <a:prstGeom prst="rect">
            <a:avLst/>
          </a:prstGeom>
          <a:solidFill>
            <a:srgbClr val="FFFFFF"/>
          </a:solidFill>
          <a:ln w="6350">
            <a:solidFill>
              <a:srgbClr val="D0E4E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995160" y="1734781"/>
            <a:ext cx="1691640" cy="919558"/>
          </a:xfrm>
          <a:prstGeom prst="rect">
            <a:avLst/>
          </a:prstGeom>
        </p:spPr>
      </p:pic>
      <p:sp>
        <p:nvSpPr>
          <p:cNvPr id="21" name="Shape 15"/>
          <p:cNvSpPr/>
          <p:nvPr/>
        </p:nvSpPr>
        <p:spPr>
          <a:xfrm>
            <a:off x="6858000" y="3218688"/>
            <a:ext cx="1965960" cy="347472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2" name="Text 16"/>
          <p:cNvSpPr/>
          <p:nvPr/>
        </p:nvSpPr>
        <p:spPr>
          <a:xfrm>
            <a:off x="6858000" y="3218688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Tag RFID Mifare</a:t>
            </a:r>
            <a:endParaRPr lang="en-US" sz="1200" dirty="0"/>
          </a:p>
        </p:txBody>
      </p:sp>
      <p:sp>
        <p:nvSpPr>
          <p:cNvPr id="23" name="Text 17"/>
          <p:cNvSpPr/>
          <p:nvPr/>
        </p:nvSpPr>
        <p:spPr>
          <a:xfrm>
            <a:off x="6858000" y="3566160"/>
            <a:ext cx="196596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7A8A"/>
                </a:solidFill>
              </a:rPr>
              <a:t>Identifiant voiture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5A7A8A"/>
                </a:solidFill>
              </a:rPr>
              <a:t>UID unique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8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D2B55"/>
          </a:solidFill>
          <a:ln w="12700">
            <a:solidFill>
              <a:srgbClr val="0D2B5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03 · Capteurs de mesure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1097280"/>
            <a:ext cx="2651760" cy="3657600"/>
          </a:xfrm>
          <a:prstGeom prst="rect">
            <a:avLst/>
          </a:prstGeom>
          <a:solidFill>
            <a:srgbClr val="FFFFFF"/>
          </a:solidFill>
          <a:ln w="6350">
            <a:solidFill>
              <a:srgbClr val="D0E4E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1203512"/>
            <a:ext cx="2468880" cy="1799216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274320" y="3017520"/>
            <a:ext cx="2651760" cy="347472"/>
          </a:xfrm>
          <a:prstGeom prst="rect">
            <a:avLst/>
          </a:prstGeom>
          <a:solidFill>
            <a:srgbClr val="0D2B55"/>
          </a:solidFill>
          <a:ln w="12700">
            <a:solidFill>
              <a:srgbClr val="0D2B55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274320" y="3017520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Capteur LM393 – Vitesse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384048" y="3401568"/>
            <a:ext cx="2432304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A2B3C"/>
                </a:solidFill>
              </a:rPr>
              <a:t>Fourche optique + disque codeur 20 encoches.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A2B3C"/>
                </a:solidFill>
              </a:rPr>
              <a:t>Mesure jusqu'à 30 000 tr/min.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A2B3C"/>
                </a:solidFill>
              </a:rPr>
              <a:t>Formule : N = compteur × 30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3200400" y="1097280"/>
            <a:ext cx="2651760" cy="3657600"/>
          </a:xfrm>
          <a:prstGeom prst="rect">
            <a:avLst/>
          </a:prstGeom>
          <a:solidFill>
            <a:srgbClr val="FFFFFF"/>
          </a:solidFill>
          <a:ln w="6350">
            <a:solidFill>
              <a:srgbClr val="D0E4E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291840" y="1279099"/>
            <a:ext cx="2468880" cy="1648041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3200400" y="3017520"/>
            <a:ext cx="2651760" cy="347472"/>
          </a:xfrm>
          <a:prstGeom prst="rect">
            <a:avLst/>
          </a:prstGeom>
          <a:solidFill>
            <a:srgbClr val="0D2B55"/>
          </a:solidFill>
          <a:ln w="12700">
            <a:solidFill>
              <a:srgbClr val="0D2B55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3200400" y="3017520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Sonde de tension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3310128" y="3401568"/>
            <a:ext cx="2432304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A2B3C"/>
                </a:solidFill>
              </a:rPr>
              <a:t>Pont diviseur de tension.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A2B3C"/>
                </a:solidFill>
              </a:rPr>
              <a:t>Plage : 0–12V → 0–5V ADC.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A2B3C"/>
                </a:solidFill>
              </a:rPr>
              <a:t>Formule : V = V_ADC × (R1+R2)/R2 × Vref/1024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6126480" y="1097280"/>
            <a:ext cx="2651760" cy="3657600"/>
          </a:xfrm>
          <a:prstGeom prst="rect">
            <a:avLst/>
          </a:prstGeom>
          <a:solidFill>
            <a:srgbClr val="FFFFFF"/>
          </a:solidFill>
          <a:ln w="6350">
            <a:solidFill>
              <a:srgbClr val="D0E4E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217920" y="1264427"/>
            <a:ext cx="2468880" cy="1677386"/>
          </a:xfrm>
          <a:prstGeom prst="rect">
            <a:avLst/>
          </a:prstGeom>
        </p:spPr>
      </p:pic>
      <p:sp>
        <p:nvSpPr>
          <p:cNvPr id="16" name="Shape 11"/>
          <p:cNvSpPr/>
          <p:nvPr/>
        </p:nvSpPr>
        <p:spPr>
          <a:xfrm>
            <a:off x="6126480" y="3017520"/>
            <a:ext cx="2651760" cy="347472"/>
          </a:xfrm>
          <a:prstGeom prst="rect">
            <a:avLst/>
          </a:prstGeom>
          <a:solidFill>
            <a:srgbClr val="0D2B55"/>
          </a:solidFill>
          <a:ln w="12700">
            <a:solidFill>
              <a:srgbClr val="0D2B55"/>
            </a:solidFill>
            <a:prstDash val="solid"/>
          </a:ln>
        </p:spPr>
      </p:sp>
      <p:sp>
        <p:nvSpPr>
          <p:cNvPr id="17" name="Text 12"/>
          <p:cNvSpPr/>
          <p:nvPr/>
        </p:nvSpPr>
        <p:spPr>
          <a:xfrm>
            <a:off x="6126480" y="3017520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Sonde de courant</a:t>
            </a:r>
            <a:endParaRPr lang="en-US" sz="1100" dirty="0"/>
          </a:p>
        </p:txBody>
      </p:sp>
      <p:sp>
        <p:nvSpPr>
          <p:cNvPr id="18" name="Text 13"/>
          <p:cNvSpPr/>
          <p:nvPr/>
        </p:nvSpPr>
        <p:spPr>
          <a:xfrm>
            <a:off x="6236208" y="3401568"/>
            <a:ext cx="2432304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A2B3C"/>
                </a:solidFill>
              </a:rPr>
              <a:t>Capteur à effet Hall (sans contact).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A2B3C"/>
                </a:solidFill>
              </a:rPr>
              <a:t>Plage : 0–30A.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A2B3C"/>
                </a:solidFill>
              </a:rPr>
              <a:t>Tension proportionnelle au courant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8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D2B55"/>
          </a:solidFill>
          <a:ln w="12700">
            <a:solidFill>
              <a:srgbClr val="0D2B5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04 · Module NFC/RFID – Mise en œuvre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89565" y="1097280"/>
            <a:ext cx="3684309" cy="2286000"/>
          </a:xfrm>
          <a:prstGeom prst="rect">
            <a:avLst/>
          </a:prstGeom>
          <a:solidFill>
            <a:srgbClr val="FFFFFF"/>
          </a:solidFill>
          <a:ln w="6350">
            <a:solidFill>
              <a:srgbClr val="D0E4E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74320" y="963727"/>
            <a:ext cx="4114800" cy="255310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74320" y="3383280"/>
            <a:ext cx="4114800" cy="32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A7A8A"/>
                </a:solidFill>
              </a:rPr>
              <a:t>Détection I2C du module PN532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4663440" y="1522937"/>
            <a:ext cx="4206240" cy="1434686"/>
          </a:xfrm>
          <a:prstGeom prst="rect">
            <a:avLst/>
          </a:prstGeom>
          <a:solidFill>
            <a:srgbClr val="FFFFFF"/>
          </a:solidFill>
          <a:ln w="6350">
            <a:solidFill>
              <a:srgbClr val="D0E4E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663440" y="1522937"/>
            <a:ext cx="4206240" cy="143468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4663440" y="338328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A7A8A"/>
                </a:solidFill>
              </a:rPr>
              <a:t>Console Arduino – lecture UID tag NFC</a:t>
            </a:r>
            <a:endParaRPr lang="en-US" sz="9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3749040"/>
          <a:ext cx="8595360" cy="1097280"/>
        </p:xfrm>
        <a:graphic>
          <a:graphicData uri="http://schemas.openxmlformats.org/drawingml/2006/table">
            <a:tbl>
              <a:tblPr/>
              <a:tblGrid>
                <a:gridCol w="1828800"/>
                <a:gridCol w="3657600"/>
                <a:gridCol w="310896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Protocole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729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Câblage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729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Statut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7293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</a:rPr>
                        <a:t>I2C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</a:rPr>
                        <a:t>4 fils (VCC/GND/SDA/SCL)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</a:rPr>
                        <a:t>✓ Choix retenu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</a:rPr>
                        <a:t>SPI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</a:rPr>
                        <a:t>6 fils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</a:rPr>
                        <a:t>Conflits bus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</a:rPr>
                        <a:t>UART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</a:rPr>
                        <a:t>4 fils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</a:rPr>
                        <a:t>Port partagé Nextion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8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D2B55"/>
          </a:solidFill>
          <a:ln w="12700">
            <a:solidFill>
              <a:srgbClr val="0D2B5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05 · Serveur Raspberry Pi – Stack LAMP</a:t>
            </a:r>
            <a:endParaRPr lang="en-US" sz="22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74320" y="1621478"/>
            <a:ext cx="2926080" cy="2014844"/>
          </a:xfrm>
          <a:prstGeom prst="rect">
            <a:avLst/>
          </a:prstGeom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pic>
      <p:sp>
        <p:nvSpPr>
          <p:cNvPr id="5" name="Shape 2"/>
          <p:cNvSpPr/>
          <p:nvPr/>
        </p:nvSpPr>
        <p:spPr>
          <a:xfrm>
            <a:off x="3474720" y="1097280"/>
            <a:ext cx="5394960" cy="566928"/>
          </a:xfrm>
          <a:prstGeom prst="roundRect">
            <a:avLst>
              <a:gd name="adj" fmla="val 9677"/>
            </a:avLst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3611880" y="1133856"/>
            <a:ext cx="164592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Apache 2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5303520" y="1133856"/>
            <a:ext cx="338328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D0EAF0"/>
                </a:solidFill>
              </a:rPr>
              <a:t>Serveur web – port 80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3474720" y="1721358"/>
            <a:ext cx="5394960" cy="566928"/>
          </a:xfrm>
          <a:prstGeom prst="roundRect">
            <a:avLst>
              <a:gd name="adj" fmla="val 9677"/>
            </a:avLst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3611880" y="1757934"/>
            <a:ext cx="164592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PHP 8.4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303520" y="1757934"/>
            <a:ext cx="338328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D0EAF0"/>
                </a:solidFill>
              </a:rPr>
              <a:t>check_uid.php – API + interface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3474720" y="2345436"/>
            <a:ext cx="5394960" cy="566928"/>
          </a:xfrm>
          <a:prstGeom prst="roundRect">
            <a:avLst>
              <a:gd name="adj" fmla="val 9677"/>
            </a:avLst>
          </a:prstGeom>
          <a:solidFill>
            <a:srgbClr val="0D2B55"/>
          </a:solidFill>
          <a:ln w="12700">
            <a:solidFill>
              <a:srgbClr val="0D2B55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611880" y="2382012"/>
            <a:ext cx="164592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MariaDB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5303520" y="2382012"/>
            <a:ext cx="338328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D0EAF0"/>
                </a:solidFill>
              </a:rPr>
              <a:t>utilisateurs / logs / perfs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3474720" y="2969514"/>
            <a:ext cx="5394960" cy="566928"/>
          </a:xfrm>
          <a:prstGeom prst="roundRect">
            <a:avLst>
              <a:gd name="adj" fmla="val 9677"/>
            </a:avLst>
          </a:prstGeom>
          <a:solidFill>
            <a:srgbClr val="0D2B55"/>
          </a:solidFill>
          <a:ln w="12700">
            <a:solidFill>
              <a:srgbClr val="0D2B55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3611880" y="3006090"/>
            <a:ext cx="164592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phpMyAdmin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5303520" y="3006090"/>
            <a:ext cx="338328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D0EAF0"/>
                </a:solidFill>
              </a:rPr>
              <a:t>Administration BDD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3474720" y="3593592"/>
            <a:ext cx="5394960" cy="566928"/>
          </a:xfrm>
          <a:prstGeom prst="roundRect">
            <a:avLst>
              <a:gd name="adj" fmla="val 9677"/>
            </a:avLst>
          </a:prstGeom>
          <a:solidFill>
            <a:srgbClr val="1C7040"/>
          </a:solidFill>
          <a:ln w="12700">
            <a:solidFill>
              <a:srgbClr val="1C7040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3611880" y="3630168"/>
            <a:ext cx="164592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PHP Dashboard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5303520" y="3630168"/>
            <a:ext cx="338328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D0EAF0"/>
                </a:solidFill>
              </a:rPr>
              <a:t>Infos utilisateur RFID en temps réel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274320" y="4160520"/>
            <a:ext cx="8595360" cy="594360"/>
          </a:xfrm>
          <a:prstGeom prst="roundRect">
            <a:avLst>
              <a:gd name="adj" fmla="val 9231"/>
            </a:avLst>
          </a:prstGeom>
          <a:solidFill>
            <a:srgbClr val="F0F8E8"/>
          </a:solidFill>
          <a:ln w="10160">
            <a:solidFill>
              <a:srgbClr val="21C9A0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57200" y="4178808"/>
            <a:ext cx="8229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5530"/>
                </a:solidFill>
              </a:rPr>
              <a:t>💾  Sauvegarde automatique MySQLdump – 30 jours – Cron job quotidien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8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D2B55"/>
          </a:solidFill>
          <a:ln w="12700">
            <a:solidFill>
              <a:srgbClr val="0D2B5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05 · Interface web – Contrôle d'accès NFC</a:t>
            </a:r>
            <a:endParaRPr lang="en-US" sz="22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74320" y="1795438"/>
            <a:ext cx="4206240" cy="2078403"/>
          </a:xfrm>
          <a:prstGeom prst="rect">
            <a:avLst/>
          </a:prstGeom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pic>
      <p:sp>
        <p:nvSpPr>
          <p:cNvPr id="5" name="Text 2"/>
          <p:cNvSpPr/>
          <p:nvPr/>
        </p:nvSpPr>
        <p:spPr>
          <a:xfrm>
            <a:off x="274320" y="4572000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5530"/>
                </a:solidFill>
              </a:rPr>
              <a:t>✅  Accès autorisé</a:t>
            </a:r>
            <a:endParaRPr lang="en-US" sz="1200" dirty="0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663440" y="1800484"/>
            <a:ext cx="4206240" cy="2068311"/>
          </a:xfrm>
          <a:prstGeom prst="rect">
            <a:avLst/>
          </a:prstGeom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pic>
      <p:sp>
        <p:nvSpPr>
          <p:cNvPr id="7" name="Text 3"/>
          <p:cNvSpPr/>
          <p:nvPr/>
        </p:nvSpPr>
        <p:spPr>
          <a:xfrm>
            <a:off x="4663440" y="4572000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B1A1A"/>
                </a:solidFill>
              </a:rPr>
              <a:t>❌  Accès refusé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8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D2B55"/>
          </a:solidFill>
          <a:ln w="12700">
            <a:solidFill>
              <a:srgbClr val="0D2B5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05 · Base de données MariaDB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1097280"/>
            <a:ext cx="2651760" cy="41148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09728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utilisateurs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74320" y="1508760"/>
            <a:ext cx="2651760" cy="2743200"/>
          </a:xfrm>
          <a:prstGeom prst="rect">
            <a:avLst/>
          </a:prstGeom>
          <a:solidFill>
            <a:srgbClr val="FFFFFF"/>
          </a:solidFill>
          <a:ln w="6350">
            <a:solidFill>
              <a:srgbClr val="D0E4EE"/>
            </a:solidFill>
            <a:prstDash val="solid"/>
          </a:ln>
        </p:spPr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74703" y="1600200"/>
            <a:ext cx="1850994" cy="13716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365760" y="3017520"/>
            <a:ext cx="24688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7A8A"/>
                </a:solidFill>
              </a:rPr>
              <a:t>UID NFC · Nom · Prénom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3227832" y="1097280"/>
            <a:ext cx="2651760" cy="41148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3227832" y="109728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logs_acces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3227832" y="1508760"/>
            <a:ext cx="2651760" cy="2743200"/>
          </a:xfrm>
          <a:prstGeom prst="rect">
            <a:avLst/>
          </a:prstGeom>
          <a:solidFill>
            <a:srgbClr val="FFFFFF"/>
          </a:solidFill>
          <a:ln w="6350">
            <a:solidFill>
              <a:srgbClr val="D0E4EE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319272" y="3017520"/>
            <a:ext cx="24688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7A8A"/>
                </a:solidFill>
              </a:rPr>
              <a:t>UID · Nom · Statut · Date/heure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6181344" y="1097280"/>
            <a:ext cx="2651760" cy="41148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181344" y="109728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performances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6181344" y="1508760"/>
            <a:ext cx="2651760" cy="2743200"/>
          </a:xfrm>
          <a:prstGeom prst="rect">
            <a:avLst/>
          </a:prstGeom>
          <a:solidFill>
            <a:srgbClr val="FFFFFF"/>
          </a:solidFill>
          <a:ln w="6350">
            <a:solidFill>
              <a:srgbClr val="D0E4EE"/>
            </a:solidFill>
            <a:prstDash val="solid"/>
          </a:ln>
        </p:spPr>
      </p:sp>
      <p:pic>
        <p:nvPicPr>
          <p:cNvPr id="16" name="Image 1" descr="preencoded.png"/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755056" y="1600200"/>
            <a:ext cx="1504335" cy="1371600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6272784" y="3017520"/>
            <a:ext cx="24688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7A8A"/>
                </a:solidFill>
              </a:rPr>
              <a:t>Mesures banc d'essai</a:t>
            </a:r>
            <a:endParaRPr lang="en-US" sz="1100" dirty="0"/>
          </a:p>
        </p:txBody>
      </p:sp>
      <p:sp>
        <p:nvSpPr>
          <p:cNvPr id="18" name="Text 14"/>
          <p:cNvSpPr/>
          <p:nvPr/>
        </p:nvSpPr>
        <p:spPr>
          <a:xfrm>
            <a:off x="3319272" y="1600200"/>
            <a:ext cx="246888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2B3C"/>
                </a:solidFill>
              </a:rPr>
              <a:t>• UID détecté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2B3C"/>
                </a:solidFill>
              </a:rPr>
              <a:t>• Nom de l'utilisateur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2B3C"/>
                </a:solidFill>
              </a:rPr>
              <a:t>• Statut : OK / KO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2B3C"/>
                </a:solidFill>
              </a:rPr>
              <a:t>• Date et heure</a:t>
            </a:r>
            <a:endParaRPr lang="en-US" sz="1100" dirty="0"/>
          </a:p>
        </p:txBody>
      </p:sp>
      <p:sp>
        <p:nvSpPr>
          <p:cNvPr id="19" name="Shape 15"/>
          <p:cNvSpPr/>
          <p:nvPr/>
        </p:nvSpPr>
        <p:spPr>
          <a:xfrm>
            <a:off x="274320" y="4343400"/>
            <a:ext cx="8595360" cy="457200"/>
          </a:xfrm>
          <a:prstGeom prst="roundRect">
            <a:avLst>
              <a:gd name="adj" fmla="val 10000"/>
            </a:avLst>
          </a:prstGeom>
          <a:solidFill>
            <a:srgbClr val="EAF4F8"/>
          </a:solidFill>
          <a:ln w="6350">
            <a:solidFill>
              <a:srgbClr val="1C7293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457200" y="4361688"/>
            <a:ext cx="82296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D2B55"/>
                </a:solidFill>
              </a:rPr>
              <a:t>Traçabilité complète de tous les accès NFC – Mémorisation 30 jours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8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D2B55"/>
          </a:solidFill>
          <a:ln w="12700">
            <a:solidFill>
              <a:srgbClr val="0D2B5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06 · Réseau &amp; VPN Tailscale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1223554"/>
            <a:ext cx="5029200" cy="2490651"/>
          </a:xfrm>
          <a:prstGeom prst="rect">
            <a:avLst/>
          </a:prstGeom>
          <a:solidFill>
            <a:srgbClr val="FFFFFF"/>
          </a:solidFill>
          <a:ln w="6350">
            <a:solidFill>
              <a:srgbClr val="D0E4E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74320" y="1223555"/>
            <a:ext cx="5029200" cy="2490651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74320" y="384048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A7A8A"/>
                </a:solidFill>
              </a:rPr>
              <a:t>Interface Tailscale – 3 machines connectées</a:t>
            </a:r>
            <a:endParaRPr lang="en-US" sz="9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40680" y="1097280"/>
          <a:ext cx="3429000" cy="1920240"/>
        </p:xfrm>
        <a:graphic>
          <a:graphicData uri="http://schemas.openxmlformats.org/drawingml/2006/table">
            <a:tbl>
              <a:tblPr/>
              <a:tblGrid>
                <a:gridCol w="1371600"/>
                <a:gridCol w="1280160"/>
                <a:gridCol w="1691640"/>
              </a:tblGrid>
              <a:tr h="4800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Machine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729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IP Tailscale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729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Rôle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7293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B3C"/>
                          </a:solidFill>
                        </a:rPr>
                        <a:t>raspberrypi5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B3C"/>
                          </a:solidFill>
                        </a:rPr>
                        <a:t>100.68.68.68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B3C"/>
                          </a:solidFill>
                        </a:rPr>
                        <a:t>Serveur prod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8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B3C"/>
                          </a:solidFill>
                        </a:rPr>
                        <a:t>raspberrypi3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B3C"/>
                          </a:solidFill>
                        </a:rPr>
                        <a:t>100.68.68.69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B3C"/>
                          </a:solidFill>
                        </a:rPr>
                        <a:t>Phase pilote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B3C"/>
                          </a:solidFill>
                        </a:rPr>
                        <a:t>tezukaz0ne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B3C"/>
                          </a:solidFill>
                        </a:rPr>
                        <a:t>100.68.68.67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B3C"/>
                          </a:solidFill>
                        </a:rPr>
                        <a:t>PC développement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8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5440680" y="3108960"/>
            <a:ext cx="34290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2B3C"/>
                </a:solidFill>
              </a:rPr>
              <a:t>WireGuard (chiffrement bout en bout)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2B3C"/>
                </a:solidFill>
              </a:rPr>
              <a:t>IP fixes 100.x.x.x – accès universel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2B3C"/>
                </a:solidFill>
              </a:rPr>
              <a:t>Ping : 55 ms – Apache port 80 accessible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2B3C"/>
                </a:solidFill>
              </a:rPr>
              <a:t>Authentification GitHub/Google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8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D2B55"/>
          </a:solidFill>
          <a:ln w="12700">
            <a:solidFill>
              <a:srgbClr val="0D2B5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07 · Développement logiciel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1097280"/>
            <a:ext cx="1920240" cy="41148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09728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Firmware Arduino (C++)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274320" y="1508760"/>
            <a:ext cx="1920240" cy="3246120"/>
          </a:xfrm>
          <a:prstGeom prst="rect">
            <a:avLst/>
          </a:prstGeom>
          <a:solidFill>
            <a:srgbClr val="FFFFFF"/>
          </a:solidFill>
          <a:ln w="6350">
            <a:solidFill>
              <a:srgbClr val="D0E4E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1600200"/>
            <a:ext cx="1737360" cy="3063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2B3C"/>
                </a:solidFill>
              </a:rPr>
              <a:t>Init NFC PN532 en I2C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2B3C"/>
                </a:solidFill>
              </a:rPr>
              <a:t>Lecture UID (format hex)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2B3C"/>
                </a:solidFill>
              </a:rPr>
              <a:t>Affichage Nextion via UART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2B3C"/>
                </a:solidFill>
              </a:rPr>
              <a:t>Envoi UID→Python via USB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450592" y="1097280"/>
            <a:ext cx="1920240" cy="411480"/>
          </a:xfrm>
          <a:prstGeom prst="rect">
            <a:avLst/>
          </a:prstGeom>
          <a:solidFill>
            <a:srgbClr val="F4844A"/>
          </a:solidFill>
          <a:ln w="12700">
            <a:solidFill>
              <a:srgbClr val="F484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450592" y="109728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UID_Check.py (Python)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450592" y="1508760"/>
            <a:ext cx="1920240" cy="3246120"/>
          </a:xfrm>
          <a:prstGeom prst="rect">
            <a:avLst/>
          </a:prstGeom>
          <a:solidFill>
            <a:srgbClr val="FFFFFF"/>
          </a:solidFill>
          <a:ln w="6350">
            <a:solidFill>
              <a:srgbClr val="D0E4E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542032" y="1600200"/>
            <a:ext cx="1737360" cy="3063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2B3C"/>
                </a:solidFill>
              </a:rPr>
              <a:t>Écoute COM5 à 115 200 bds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2B3C"/>
                </a:solidFill>
              </a:rPr>
              <a:t>Construction requête HTTP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2B3C"/>
                </a:solidFill>
              </a:rPr>
              <a:t>Transmission UID au RPi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2B3C"/>
                </a:solidFill>
              </a:rPr>
              <a:t>Retour résultat à l'Arduino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626864" y="1097280"/>
            <a:ext cx="1920240" cy="411480"/>
          </a:xfrm>
          <a:prstGeom prst="rect">
            <a:avLst/>
          </a:prstGeom>
          <a:solidFill>
            <a:srgbClr val="0D2B55"/>
          </a:solidFill>
          <a:ln w="12700">
            <a:solidFill>
              <a:srgbClr val="0D2B5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26864" y="109728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check_uid.php (PHP)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26864" y="1508760"/>
            <a:ext cx="1920240" cy="3246120"/>
          </a:xfrm>
          <a:prstGeom prst="rect">
            <a:avLst/>
          </a:prstGeom>
          <a:solidFill>
            <a:srgbClr val="FFFFFF"/>
          </a:solidFill>
          <a:ln w="6350">
            <a:solidFill>
              <a:srgbClr val="D0E4E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18304" y="1600200"/>
            <a:ext cx="1737360" cy="3063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2B3C"/>
                </a:solidFill>
              </a:rPr>
              <a:t>Mode API : ?uid=...&amp;api=1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2B3C"/>
                </a:solidFill>
              </a:rPr>
              <a:t>Vérifie table utilisateurs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2B3C"/>
                </a:solidFill>
              </a:rPr>
              <a:t>Log dans logs_acces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2B3C"/>
                </a:solidFill>
              </a:rPr>
              <a:t>Retourne OK / KO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803136" y="1097280"/>
            <a:ext cx="1920240" cy="411480"/>
          </a:xfrm>
          <a:prstGeom prst="rect">
            <a:avLst/>
          </a:prstGeom>
          <a:solidFill>
            <a:srgbClr val="1C7040"/>
          </a:solidFill>
          <a:ln w="12700">
            <a:solidFill>
              <a:srgbClr val="1C704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03136" y="109728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Notebook Jupyter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803136" y="1508760"/>
            <a:ext cx="1920240" cy="3246120"/>
          </a:xfrm>
          <a:prstGeom prst="rect">
            <a:avLst/>
          </a:prstGeom>
          <a:solidFill>
            <a:srgbClr val="FFFFFF"/>
          </a:solidFill>
          <a:ln w="6350">
            <a:solidFill>
              <a:srgbClr val="D0E4E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894576" y="1600200"/>
            <a:ext cx="1737360" cy="3063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2B3C"/>
                </a:solidFill>
              </a:rPr>
              <a:t>Import données MariaDB/CSV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2B3C"/>
                </a:solidFill>
              </a:rPr>
              <a:t>Graphiques de performance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2B3C"/>
                </a:solidFill>
              </a:rPr>
              <a:t>Statistiques descriptives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2B3C"/>
                </a:solidFill>
              </a:rPr>
              <a:t>Comparaison sessions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8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D2B55"/>
          </a:solidFill>
          <a:ln w="12700">
            <a:solidFill>
              <a:srgbClr val="0D2B5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Phase de consolidation avant l'oral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1143000"/>
            <a:ext cx="1188720" cy="1005840"/>
          </a:xfrm>
          <a:prstGeom prst="roundRect">
            <a:avLst>
              <a:gd name="adj" fmla="val 5455"/>
            </a:avLst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143000"/>
            <a:ext cx="1188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HAUTE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554480" y="1143000"/>
            <a:ext cx="7223760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D0E4E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691640" y="1188720"/>
            <a:ext cx="69494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2B3C"/>
                </a:solidFill>
              </a:rPr>
              <a:t>PCB – remplacement breadboard par circuit imprimé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2B3C"/>
                </a:solidFill>
              </a:rPr>
              <a:t>Finalisation code mesure LM393 + interruptions matérielles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2B3C"/>
                </a:solidFill>
              </a:rPr>
              <a:t>Calibration capteurs tension et courant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377440"/>
            <a:ext cx="1188720" cy="1005840"/>
          </a:xfrm>
          <a:prstGeom prst="roundRect">
            <a:avLst>
              <a:gd name="adj" fmla="val 5455"/>
            </a:avLst>
          </a:prstGeom>
          <a:solidFill>
            <a:srgbClr val="F4844A"/>
          </a:solidFill>
          <a:ln w="12700">
            <a:solidFill>
              <a:srgbClr val="F484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74320" y="2377440"/>
            <a:ext cx="1188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MOYENNE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1554480" y="2377440"/>
            <a:ext cx="7223760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D0E4E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691640" y="2423160"/>
            <a:ext cx="69494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2B3C"/>
                </a:solidFill>
              </a:rPr>
              <a:t>Intégration Grafana – dashboards temps réel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2B3C"/>
                </a:solidFill>
              </a:rPr>
              <a:t>Configuration plugin MariaDB pour Grafana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2B3C"/>
                </a:solidFill>
              </a:rPr>
              <a:t>Interface Nextion avancée (graphiques, historiques)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" y="3611880"/>
            <a:ext cx="1188720" cy="1005840"/>
          </a:xfrm>
          <a:prstGeom prst="roundRect">
            <a:avLst>
              <a:gd name="adj" fmla="val 5455"/>
            </a:avLst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74320" y="3611880"/>
            <a:ext cx="1188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BASSE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1554480" y="3611880"/>
            <a:ext cx="7223760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D0E4E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691640" y="3657600"/>
            <a:ext cx="69494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2B3C"/>
                </a:solidFill>
              </a:rPr>
              <a:t>Module GSM A6 – notifications SMS pilotes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2B3C"/>
                </a:solidFill>
              </a:rPr>
              <a:t>AT+CMGS – envoi résultats post-session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2B3C"/>
                </a:solidFill>
              </a:rPr>
              <a:t>Alertes FVRC sur dépassements de seuils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274320" y="4754880"/>
            <a:ext cx="8595360" cy="201168"/>
          </a:xfrm>
          <a:prstGeom prst="roundRect">
            <a:avLst>
              <a:gd name="adj" fmla="val 18182"/>
            </a:avLst>
          </a:prstGeom>
          <a:solidFill>
            <a:srgbClr val="21C9A0">
              <a:alpha val="70000"/>
            </a:srgbClr>
          </a:solidFill>
          <a:ln w="12700">
            <a:solidFill>
              <a:srgbClr val="21C9A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4764024"/>
            <a:ext cx="841248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0D2B55"/>
                </a:solidFill>
              </a:rPr>
              <a:t>Améliorations futures : écran 7" · WiFi ESP32 · app mobile Android/iOS · chronométrage intégré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8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D2B55"/>
          </a:solidFill>
          <a:ln w="12700">
            <a:solidFill>
              <a:srgbClr val="0D2B5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09 · Difficultés rencontrées &amp; solutions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1097280"/>
            <a:ext cx="4023360" cy="502920"/>
          </a:xfrm>
          <a:prstGeom prst="roundRect">
            <a:avLst>
              <a:gd name="adj" fmla="val 10909"/>
            </a:avLst>
          </a:prstGeom>
          <a:solidFill>
            <a:srgbClr val="FDECEA"/>
          </a:solidFill>
          <a:ln w="6350">
            <a:solidFill>
              <a:srgbClr val="E5737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1115568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B1A1A"/>
                </a:solidFill>
              </a:rPr>
              <a:t>⚠ Choix protocole PN532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343400" y="1344168"/>
            <a:ext cx="365760" cy="0"/>
          </a:xfrm>
          <a:prstGeom prst="line">
            <a:avLst/>
          </a:prstGeom>
          <a:noFill/>
          <a:ln w="19050">
            <a:solidFill>
              <a:srgbClr val="21C9A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754880" y="1097280"/>
            <a:ext cx="4114800" cy="502920"/>
          </a:xfrm>
          <a:prstGeom prst="roundRect">
            <a:avLst>
              <a:gd name="adj" fmla="val 10909"/>
            </a:avLst>
          </a:prstGeom>
          <a:solidFill>
            <a:srgbClr val="E8F8F1"/>
          </a:solidFill>
          <a:ln w="6350">
            <a:solidFill>
              <a:srgbClr val="21C9A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846320" y="1115568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5530"/>
                </a:solidFill>
              </a:rPr>
              <a:t>✓ SPI → conflits → passage en I2C (stable, 4 fils)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74320" y="1737360"/>
            <a:ext cx="4023360" cy="502920"/>
          </a:xfrm>
          <a:prstGeom prst="roundRect">
            <a:avLst>
              <a:gd name="adj" fmla="val 10909"/>
            </a:avLst>
          </a:prstGeom>
          <a:solidFill>
            <a:srgbClr val="FDECEA"/>
          </a:solidFill>
          <a:ln w="6350">
            <a:solidFill>
              <a:srgbClr val="E5737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5760" y="1755648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B1A1A"/>
                </a:solidFill>
              </a:rPr>
              <a:t>⚠ UART multiples sur Arduino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43400" y="1984248"/>
            <a:ext cx="365760" cy="0"/>
          </a:xfrm>
          <a:prstGeom prst="line">
            <a:avLst/>
          </a:prstGeom>
          <a:noFill/>
          <a:ln w="19050">
            <a:solidFill>
              <a:srgbClr val="21C9A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754880" y="1737360"/>
            <a:ext cx="4114800" cy="502920"/>
          </a:xfrm>
          <a:prstGeom prst="roundRect">
            <a:avLst>
              <a:gd name="adj" fmla="val 10909"/>
            </a:avLst>
          </a:prstGeom>
          <a:solidFill>
            <a:srgbClr val="E8F8F1"/>
          </a:solidFill>
          <a:ln w="6350">
            <a:solidFill>
              <a:srgbClr val="21C9A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46320" y="1755648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5530"/>
                </a:solidFill>
              </a:rPr>
              <a:t>✓ SoftwareSerial sur pins 10/11 pour Nextion, UART matériel libéré pour RPi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74320" y="2377440"/>
            <a:ext cx="4023360" cy="502920"/>
          </a:xfrm>
          <a:prstGeom prst="roundRect">
            <a:avLst>
              <a:gd name="adj" fmla="val 10909"/>
            </a:avLst>
          </a:prstGeom>
          <a:solidFill>
            <a:srgbClr val="FDECEA"/>
          </a:solidFill>
          <a:ln w="6350">
            <a:solidFill>
              <a:srgbClr val="E5737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395728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B1A1A"/>
                </a:solidFill>
              </a:rPr>
              <a:t>⚠ Nextion Editor – affichage dynamique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343400" y="2624328"/>
            <a:ext cx="365760" cy="0"/>
          </a:xfrm>
          <a:prstGeom prst="line">
            <a:avLst/>
          </a:prstGeom>
          <a:noFill/>
          <a:ln w="19050">
            <a:solidFill>
              <a:srgbClr val="21C9A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754880" y="2377440"/>
            <a:ext cx="4114800" cy="502920"/>
          </a:xfrm>
          <a:prstGeom prst="roundRect">
            <a:avLst>
              <a:gd name="adj" fmla="val 10909"/>
            </a:avLst>
          </a:prstGeom>
          <a:solidFill>
            <a:srgbClr val="E8F8F1"/>
          </a:solidFill>
          <a:ln w="6350">
            <a:solidFill>
              <a:srgbClr val="21C9A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846320" y="2395728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5530"/>
                </a:solidFill>
              </a:rPr>
              <a:t>✓ Limitation à accès autorisé/refusé sur écran, détails sur interface web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274320" y="3017520"/>
            <a:ext cx="4023360" cy="502920"/>
          </a:xfrm>
          <a:prstGeom prst="roundRect">
            <a:avLst>
              <a:gd name="adj" fmla="val 10909"/>
            </a:avLst>
          </a:prstGeom>
          <a:solidFill>
            <a:srgbClr val="FDECEA"/>
          </a:solidFill>
          <a:ln w="6350">
            <a:solidFill>
              <a:srgbClr val="E5737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035808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B1A1A"/>
                </a:solidFill>
              </a:rPr>
              <a:t>⚠ VPN Tailscale – premier démarrage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343400" y="3264408"/>
            <a:ext cx="365760" cy="0"/>
          </a:xfrm>
          <a:prstGeom prst="line">
            <a:avLst/>
          </a:prstGeom>
          <a:noFill/>
          <a:ln w="19050">
            <a:solidFill>
              <a:srgbClr val="21C9A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754880" y="3017520"/>
            <a:ext cx="4114800" cy="502920"/>
          </a:xfrm>
          <a:prstGeom prst="roundRect">
            <a:avLst>
              <a:gd name="adj" fmla="val 10909"/>
            </a:avLst>
          </a:prstGeom>
          <a:solidFill>
            <a:srgbClr val="E8F8F1"/>
          </a:solidFill>
          <a:ln w="6350">
            <a:solidFill>
              <a:srgbClr val="21C9A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846320" y="3035808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5530"/>
                </a:solidFill>
              </a:rPr>
              <a:t>✓ MàJ kernel + règles iptables résolues en une session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274320" y="3657600"/>
            <a:ext cx="4023360" cy="502920"/>
          </a:xfrm>
          <a:prstGeom prst="roundRect">
            <a:avLst>
              <a:gd name="adj" fmla="val 10909"/>
            </a:avLst>
          </a:prstGeom>
          <a:solidFill>
            <a:srgbClr val="FDECEA"/>
          </a:solidFill>
          <a:ln w="6350">
            <a:solidFill>
              <a:srgbClr val="E5737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675888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B1A1A"/>
                </a:solidFill>
              </a:rPr>
              <a:t>⚠ Coordination binôme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343400" y="3904488"/>
            <a:ext cx="365760" cy="0"/>
          </a:xfrm>
          <a:prstGeom prst="line">
            <a:avLst/>
          </a:prstGeom>
          <a:noFill/>
          <a:ln w="19050">
            <a:solidFill>
              <a:srgbClr val="21C9A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754880" y="3657600"/>
            <a:ext cx="4114800" cy="502920"/>
          </a:xfrm>
          <a:prstGeom prst="roundRect">
            <a:avLst>
              <a:gd name="adj" fmla="val 10909"/>
            </a:avLst>
          </a:prstGeom>
          <a:solidFill>
            <a:srgbClr val="E8F8F1"/>
          </a:solidFill>
          <a:ln w="6350">
            <a:solidFill>
              <a:srgbClr val="21C9A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846320" y="3675888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5530"/>
                </a:solidFill>
              </a:rPr>
              <a:t>✓ Git partagé, répartition claire des tâches (partie commune / personnelle)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274320" y="4297680"/>
            <a:ext cx="4023360" cy="502920"/>
          </a:xfrm>
          <a:prstGeom prst="roundRect">
            <a:avLst>
              <a:gd name="adj" fmla="val 10909"/>
            </a:avLst>
          </a:prstGeom>
          <a:solidFill>
            <a:srgbClr val="FDECEA"/>
          </a:solidFill>
          <a:ln w="6350">
            <a:solidFill>
              <a:srgbClr val="E5737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315968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B1A1A"/>
                </a:solidFill>
              </a:rPr>
              <a:t>⚠ Disponibilité matériel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4343400" y="4544568"/>
            <a:ext cx="365760" cy="0"/>
          </a:xfrm>
          <a:prstGeom prst="line">
            <a:avLst/>
          </a:prstGeom>
          <a:noFill/>
          <a:ln w="19050">
            <a:solidFill>
              <a:srgbClr val="21C9A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754880" y="4297680"/>
            <a:ext cx="4114800" cy="502920"/>
          </a:xfrm>
          <a:prstGeom prst="roundRect">
            <a:avLst>
              <a:gd name="adj" fmla="val 10909"/>
            </a:avLst>
          </a:prstGeom>
          <a:solidFill>
            <a:srgbClr val="E8F8F1"/>
          </a:solidFill>
          <a:ln w="6350">
            <a:solidFill>
              <a:srgbClr val="21C9A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846320" y="4315968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5530"/>
                </a:solidFill>
              </a:rPr>
              <a:t>✓ Commandes anticipées, tests avec substituts en attendant livraison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E8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D2B55"/>
          </a:solidFill>
          <a:ln w="12700">
            <a:solidFill>
              <a:srgbClr val="0D2B5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fr-FR" sz="2200" b="1" dirty="0">
                <a:solidFill>
                  <a:srgbClr val="FFFFFF"/>
                </a:solidFill>
              </a:rPr>
              <a:t>08 · Module A6 – GSM &amp; Alertes</a:t>
            </a:r>
          </a:p>
        </p:txBody>
      </p:sp>
      <p:sp>
        <p:nvSpPr>
          <p:cNvPr id="4" name="Shape Left"/>
          <p:cNvSpPr/>
          <p:nvPr/>
        </p:nvSpPr>
        <p:spPr>
          <a:xfrm>
            <a:off x="274320" y="1097280"/>
            <a:ext cx="4114800" cy="3749040"/>
          </a:xfrm>
          <a:prstGeom prst="rect">
            <a:avLst/>
          </a:prstGeom>
          <a:solidFill>
            <a:srgbClr val="FFFFFF"/>
          </a:solidFill>
          <a:ln w="6350">
            <a:solidFill>
              <a:srgbClr val="D0E4EE"/>
            </a:solidFill>
            <a:prstDash val="solid"/>
          </a:ln>
          <a:effectLst>
            <a:outerShdw blurRad="38100" dist="12700" dir="5400000" algn="t" rotWithShape="0">
              <a:srgbClr val="B8D4E0">
                <a:alpha val="40000"/>
              </a:srgbClr>
            </a:outerShdw>
          </a:effectLst>
        </p:spPr>
      </p:sp>
      <p:sp>
        <p:nvSpPr>
          <p:cNvPr id="5" name="Text Left"/>
          <p:cNvSpPr/>
          <p:nvPr/>
        </p:nvSpPr>
        <p:spPr>
          <a:xfrm>
            <a:off x="457200" y="1188720"/>
            <a:ext cx="374904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fr-FR" sz="1400" b="1" dirty="0">
                <a:solidFill>
                  <a:srgbClr val="1C7293"/>
                </a:solidFill>
              </a:rPr>
              <a:t>Présentation du module A6</a:t>
            </a:r>
          </a:p>
          <a:p>
            <a:pPr indent="0" marL="0">
              <a:lnSpc>
                <a:spcPts val="1400"/>
              </a:lnSpc>
              <a:buNone/>
            </a:pPr>
            <a:endParaRPr lang="fr-FR" sz="1000" dirty="0"/>
          </a:p>
          <a:p>
            <a:pPr marL="342900" indent="-342900">
              <a:buSzPct val="100000"/>
              <a:buChar char="▸"/>
            </a:pPr>
            <a:r>
              <a:rPr lang="fr-FR" sz="1100" b="1" dirty="0">
                <a:solidFill>
                  <a:srgbClr val="1A2B3C"/>
                </a:solidFill>
              </a:rPr>
              <a:t xml:space="preserve">Type : </a:t>
            </a:r>
            <a:r>
              <a:rPr lang="fr-FR" sz="1100" dirty="0">
                <a:solidFill>
                  <a:srgbClr val="1A2B3C"/>
                </a:solidFill>
              </a:rPr>
              <a:t>Module GSM/GPRS quad-band</a:t>
            </a:r>
          </a:p>
          <a:p>
            <a:pPr marL="342900" indent="-342900">
              <a:buSzPct val="100000"/>
              <a:buChar char="▸"/>
            </a:pPr>
            <a:r>
              <a:rPr lang="fr-FR" sz="1100" b="1" dirty="0">
                <a:solidFill>
                  <a:srgbClr val="1A2B3C"/>
                </a:solidFill>
              </a:rPr>
              <a:t xml:space="preserve">Connexion : </a:t>
            </a:r>
            <a:r>
              <a:rPr lang="fr-FR" sz="1100" dirty="0">
                <a:solidFill>
                  <a:srgbClr val="1A2B3C"/>
                </a:solidFill>
              </a:rPr>
              <a:t>UART (TX/RX) avec l’Arduino</a:t>
            </a:r>
          </a:p>
          <a:p>
            <a:pPr marL="342900" indent="-342900">
              <a:buSzPct val="100000"/>
              <a:buChar char="▸"/>
            </a:pPr>
            <a:r>
              <a:rPr lang="fr-FR" sz="1100" b="1" dirty="0">
                <a:solidFill>
                  <a:srgbClr val="1A2B3C"/>
                </a:solidFill>
              </a:rPr>
              <a:t xml:space="preserve">Alimentation : </a:t>
            </a:r>
            <a:r>
              <a:rPr lang="fr-FR" sz="1100" dirty="0">
                <a:solidFill>
                  <a:srgbClr val="1A2B3C"/>
                </a:solidFill>
              </a:rPr>
              <a:t>3,4 – 4,2 V (li-ion)</a:t>
            </a:r>
          </a:p>
          <a:p>
            <a:pPr indent="0" marL="0">
              <a:lnSpc>
                <a:spcPts val="1400"/>
              </a:lnSpc>
              <a:buNone/>
            </a:pPr>
            <a:endParaRPr lang="fr-FR" sz="1000" dirty="0"/>
          </a:p>
          <a:p>
            <a:pPr indent="0" marL="0">
              <a:buNone/>
            </a:pPr>
            <a:r>
              <a:rPr lang="fr-FR" sz="1400" b="1" dirty="0">
                <a:solidFill>
                  <a:srgbClr val="1C7293"/>
                </a:solidFill>
              </a:rPr>
              <a:t>Fonctions implémentées</a:t>
            </a:r>
          </a:p>
          <a:p>
            <a:pPr indent="0" marL="0">
              <a:lnSpc>
                <a:spcPts val="1000"/>
              </a:lnSpc>
              <a:buNone/>
            </a:pPr>
            <a:endParaRPr lang="fr-FR" sz="900" dirty="0"/>
          </a:p>
          <a:p>
            <a:pPr marL="342900" indent="-342900">
              <a:buSzPct val="100000"/>
              <a:buChar char="▸"/>
            </a:pPr>
            <a:r>
              <a:rPr lang="fr-FR" sz="1100" dirty="0">
                <a:solidFill>
                  <a:srgbClr val="1A2B3C"/>
                </a:solidFill>
              </a:rPr>
              <a:t>Envoi de SMS d’alerte lors d’accès refusé</a:t>
            </a:r>
          </a:p>
          <a:p>
            <a:pPr marL="342900" indent="-342900">
              <a:buSzPct val="100000"/>
              <a:buChar char="▸"/>
            </a:pPr>
            <a:r>
              <a:rPr lang="fr-FR" sz="1100" dirty="0">
                <a:solidFill>
                  <a:srgbClr val="1A2B3C"/>
                </a:solidFill>
              </a:rPr>
              <a:t>Commande AT via Arduino Uno</a:t>
            </a:r>
          </a:p>
          <a:p>
            <a:pPr marL="342900" indent="-342900">
              <a:buSzPct val="100000"/>
              <a:buChar char="▸"/>
            </a:pPr>
            <a:r>
              <a:rPr lang="fr-FR" sz="1100" dirty="0">
                <a:solidFill>
                  <a:srgbClr val="1A2B3C"/>
                </a:solidFill>
              </a:rPr>
              <a:t>Notification avec nom, prénom et UID du badge</a:t>
            </a:r>
          </a:p>
          <a:p>
            <a:pPr marL="342900" indent="-342900">
              <a:buSzPct val="100000"/>
              <a:buChar char="▸"/>
            </a:pPr>
            <a:r>
              <a:rPr lang="fr-FR" sz="1100" dirty="0">
                <a:solidFill>
                  <a:srgbClr val="1A2B3C"/>
                </a:solidFill>
              </a:rPr>
              <a:t>Envoi vers numéro enregistré en BDD (table utilisateurs)</a:t>
            </a:r>
          </a:p>
          <a:p>
            <a:pPr indent="0" marL="0">
              <a:lnSpc>
                <a:spcPts val="1400"/>
              </a:lnSpc>
              <a:buNone/>
            </a:pPr>
            <a:endParaRPr lang="fr-FR" sz="1000" dirty="0"/>
          </a:p>
          <a:p>
            <a:pPr indent="0" marL="0">
              <a:buNone/>
            </a:pPr>
            <a:r>
              <a:rPr lang="fr-FR" sz="1400" b="1" dirty="0">
                <a:solidFill>
                  <a:srgbClr val="1C7293"/>
                </a:solidFill>
              </a:rPr>
              <a:t>Statut</a:t>
            </a:r>
          </a:p>
          <a:p>
            <a:pPr marL="342900" indent="-342900">
              <a:buSzPct val="100000"/>
              <a:buChar char="▸"/>
            </a:pPr>
            <a:r>
              <a:rPr lang="fr-FR" sz="1100" dirty="0">
                <a:solidFill>
                  <a:srgbClr val="21C9A0"/>
                </a:solidFill>
              </a:rPr>
              <a:t>Tests d’envoi SMS validés en configuration banc</a:t>
            </a:r>
          </a:p>
          <a:p>
            <a:pPr marL="342900" indent="-342900">
              <a:buSzPct val="100000"/>
              <a:buChar char="▸"/>
            </a:pPr>
            <a:r>
              <a:rPr lang="fr-FR" sz="1100" dirty="0">
                <a:solidFill>
                  <a:srgbClr val="F4844A"/>
                </a:solidFill>
              </a:rPr>
              <a:t>Intégration complète avec Python (Raspberry Pi) en cours</a:t>
            </a:r>
          </a:p>
        </p:txBody>
      </p:sp>
      <p:sp>
        <p:nvSpPr>
          <p:cNvPr id="10" name="Shape Right"/>
          <p:cNvSpPr/>
          <p:nvPr/>
        </p:nvSpPr>
        <p:spPr>
          <a:xfrm>
            <a:off x="4663440" y="1097280"/>
            <a:ext cx="4206240" cy="1371600"/>
          </a:xfrm>
          <a:prstGeom prst="rect">
            <a:avLst/>
          </a:prstGeom>
          <a:solidFill>
            <a:srgbClr val="0D2B55"/>
          </a:solidFill>
          <a:ln w="6350">
            <a:solidFill>
              <a:srgbClr val="1C7293"/>
            </a:solidFill>
            <a:prstDash val="solid"/>
          </a:ln>
        </p:spPr>
      </p:sp>
      <p:sp>
        <p:nvSpPr>
          <p:cNvPr id="11" name="Text Right Title"/>
          <p:cNvSpPr/>
          <p:nvPr/>
        </p:nvSpPr>
        <p:spPr>
          <a:xfrm>
            <a:off x="4846320" y="114300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fr-FR" sz="1000" b="1" i="1" dirty="0">
                <a:solidFill>
                  <a:srgbClr val="21C9A0"/>
                </a:solidFill>
              </a:rPr>
              <a:t>// Exemple de commandes AT</a:t>
            </a:r>
          </a:p>
        </p:txBody>
      </p:sp>
      <p:sp>
        <p:nvSpPr>
          <p:cNvPr id="12" name="Text Code"/>
          <p:cNvSpPr/>
          <p:nvPr/>
        </p:nvSpPr>
        <p:spPr>
          <a:xfrm>
            <a:off x="4846320" y="1417320"/>
            <a:ext cx="384048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fr-FR" sz="1000" dirty="0">
                <a:solidFill>
                  <a:srgbClr val="A8C8D8"/>
                </a:solidFill>
                <a:latin typeface="Courier New" pitchFamily="49" charset="0"/>
              </a:rPr>
              <a:t>AT            // Test connexion</a:t>
            </a:r>
          </a:p>
          <a:p>
            <a:pPr indent="0" marL="0">
              <a:buNone/>
            </a:pPr>
            <a:r>
              <a:rPr lang="fr-FR" sz="1000" dirty="0">
                <a:solidFill>
                  <a:srgbClr val="A8C8D8"/>
                </a:solidFill>
                <a:latin typeface="Courier New" pitchFamily="49" charset="0"/>
              </a:rPr>
              <a:t>AT+CMGF=1     // Mode SMS texte</a:t>
            </a:r>
          </a:p>
          <a:p>
            <a:pPr indent="0" marL="0">
              <a:buNone/>
            </a:pPr>
            <a:r>
              <a:rPr lang="fr-FR" sz="1000" dirty="0">
                <a:solidFill>
                  <a:srgbClr val="21C9A0"/>
                </a:solidFill>
                <a:latin typeface="Courier New" pitchFamily="49" charset="0"/>
              </a:rPr>
              <a:t>AT+CMGS="+33..."  // Envoi SMS</a:t>
            </a:r>
          </a:p>
          <a:p>
            <a:pPr indent="0" marL="0">
              <a:buNone/>
            </a:pPr>
            <a:r>
              <a:rPr lang="fr-FR" sz="1000" dirty="0">
                <a:solidFill>
                  <a:srgbClr val="F4844A"/>
                </a:solidFill>
                <a:latin typeface="Courier New" pitchFamily="49" charset="0"/>
              </a:rPr>
              <a:t>"ACCES REFUSE: Youssouf (UID: 4BC2CD01)"</a:t>
            </a:r>
          </a:p>
        </p:txBody>
      </p:sp>
      <p:sp>
        <p:nvSpPr>
          <p:cNvPr id="13" name="Card A6 Specs"/>
          <p:cNvSpPr/>
          <p:nvPr/>
        </p:nvSpPr>
        <p:spPr>
          <a:xfrm>
            <a:off x="4663440" y="2560320"/>
            <a:ext cx="4206240" cy="2286000"/>
          </a:xfrm>
          <a:prstGeom prst="rect">
            <a:avLst/>
          </a:prstGeom>
          <a:solidFill>
            <a:srgbClr val="FFFFFF"/>
          </a:solidFill>
          <a:ln w="6350">
            <a:solidFill>
              <a:srgbClr val="D0E4EE"/>
            </a:solidFill>
            <a:prstDash val="solid"/>
          </a:ln>
          <a:effectLst>
            <a:outerShdw blurRad="38100" dist="12700" dir="5400000" algn="t" rotWithShape="0">
              <a:srgbClr val="B8D4E0">
                <a:alpha val="40000"/>
              </a:srgbClr>
            </a:outerShdw>
          </a:effectLst>
        </p:spPr>
      </p:sp>
      <p:sp>
        <p:nvSpPr>
          <p:cNvPr id="14" name="Text A6 Specs"/>
          <p:cNvSpPr/>
          <p:nvPr/>
        </p:nvSpPr>
        <p:spPr>
          <a:xfrm>
            <a:off x="4846320" y="2651760"/>
            <a:ext cx="384048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fr-FR" sz="1300" b="1" dirty="0">
                <a:solidFill>
                  <a:srgbClr val="1C7293"/>
                </a:solidFill>
              </a:rPr>
              <a:t>Caractéristiques techniques</a:t>
            </a:r>
          </a:p>
          <a:p>
            <a:pPr indent="0" marL="0">
              <a:lnSpc>
                <a:spcPts val="900"/>
              </a:lnSpc>
              <a:buNone/>
            </a:pPr>
            <a:endParaRPr lang="fr-FR" sz="800" dirty="0"/>
          </a:p>
          <a:p>
            <a:pPr marL="274320" indent="-274320">
              <a:buSzPct val="100000"/>
              <a:buChar char="●"/>
            </a:pPr>
            <a:r>
              <a:rPr lang="fr-FR" sz="1000" b="1" dirty="0">
                <a:solidFill>
                  <a:srgbClr val="1A2B3C"/>
                </a:solidFill>
              </a:rPr>
              <a:t xml:space="preserve">Bandes : </a:t>
            </a:r>
            <a:r>
              <a:rPr lang="fr-FR" sz="1000" dirty="0">
                <a:solidFill>
                  <a:srgbClr val="1A2B3C"/>
                </a:solidFill>
              </a:rPr>
              <a:t>850/900/1800/1900 MHz</a:t>
            </a:r>
          </a:p>
          <a:p>
            <a:pPr marL="274320" indent="-274320">
              <a:buSzPct val="100000"/>
              <a:buChar char="●"/>
            </a:pPr>
            <a:r>
              <a:rPr lang="fr-FR" sz="1000" b="1" dirty="0">
                <a:solidFill>
                  <a:srgbClr val="1A2B3C"/>
                </a:solidFill>
              </a:rPr>
              <a:t xml:space="preserve">Interface : </a:t>
            </a:r>
            <a:r>
              <a:rPr lang="fr-FR" sz="1000" dirty="0">
                <a:solidFill>
                  <a:srgbClr val="1A2B3C"/>
                </a:solidFill>
              </a:rPr>
              <a:t>UART 115200 baud</a:t>
            </a:r>
          </a:p>
          <a:p>
            <a:pPr marL="274320" indent="-274320">
              <a:buSzPct val="100000"/>
              <a:buChar char="●"/>
            </a:pPr>
            <a:r>
              <a:rPr lang="fr-FR" sz="1000" b="1" dirty="0">
                <a:solidFill>
                  <a:srgbClr val="1A2B3C"/>
                </a:solidFill>
              </a:rPr>
              <a:t>SMS / Appel / GPRS</a:t>
            </a:r>
          </a:p>
          <a:p>
            <a:pPr marL="274320" indent="-274320">
              <a:buSzPct val="100000"/>
              <a:buChar char="●"/>
            </a:pPr>
            <a:r>
              <a:rPr lang="fr-FR" sz="1000" b="1" dirty="0">
                <a:solidFill>
                  <a:srgbClr val="1A2B3C"/>
                </a:solidFill>
              </a:rPr>
              <a:t xml:space="preserve">Taille : </a:t>
            </a:r>
            <a:r>
              <a:rPr lang="fr-FR" sz="1000" dirty="0">
                <a:solidFill>
                  <a:srgbClr val="1A2B3C"/>
                </a:solidFill>
              </a:rPr>
              <a:t>24 x 24 x 4 mm</a:t>
            </a:r>
          </a:p>
          <a:p>
            <a:pPr marL="274320" indent="-274320">
              <a:buSzPct val="100000"/>
              <a:buChar char="●"/>
            </a:pPr>
            <a:r>
              <a:rPr lang="fr-FR" sz="1000" b="1" dirty="0">
                <a:solidFill>
                  <a:srgbClr val="1A2B3C"/>
                </a:solidFill>
              </a:rPr>
              <a:t>Slot SIM intégré</a:t>
            </a:r>
          </a:p>
        </p:txBody>
      </p:sp>
      <p:sp>
        <p:nvSpPr>
          <p:cNvPr id="15" name="Shape Bottom"/>
          <p:cNvSpPr/>
          <p:nvPr/>
        </p:nvSpPr>
        <p:spPr>
          <a:xfrm>
            <a:off x="274320" y="4572000"/>
            <a:ext cx="8595360" cy="502920"/>
          </a:xfrm>
          <a:prstGeom prst="roundRect">
            <a:avLst>
              <a:gd name="adj" fmla="val 9231"/>
            </a:avLst>
          </a:prstGeom>
          <a:solidFill>
            <a:srgbClr val="E8F8F2"/>
          </a:solidFill>
          <a:ln w="10160">
            <a:solidFill>
              <a:srgbClr val="21C9A0"/>
            </a:solidFill>
            <a:prstDash val="solid"/>
          </a:ln>
        </p:spPr>
      </p:sp>
      <p:sp>
        <p:nvSpPr>
          <p:cNvPr id="16" name="Text Bottom"/>
          <p:cNvSpPr/>
          <p:nvPr/>
        </p:nvSpPr>
        <p:spPr>
          <a:xfrm>
            <a:off x="457200" y="457200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fr-FR" sz="1000" b="1" dirty="0">
                <a:solidFill>
                  <a:srgbClr val="1C7293"/>
                </a:solidFill>
              </a:rPr>
              <a:t>📱  Intégration prévue : Arduino Uno → A6 → SMS → Numéro responsable — déclenché à chaque accès refusé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E8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D2B55"/>
          </a:solidFill>
          <a:ln w="12700">
            <a:solidFill>
              <a:srgbClr val="0D2B5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fr-FR" sz="2200" b="1" dirty="0">
                <a:solidFill>
                  <a:srgbClr val="FFFFFF"/>
                </a:solidFill>
              </a:rPr>
              <a:t>05 · Tableau de bord PHP – Infos utilisateur en temps réel</a:t>
            </a:r>
          </a:p>
        </p:txBody>
      </p:sp>
      <p:pic>
        <p:nvPicPr>
          <p:cNvPr id="4" name="Image PHP Dashboard"/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907365" y="1205840"/>
            <a:ext cx="7329270" cy="3600000"/>
          </a:xfrm>
          <a:prstGeom prst="rect">
            <a:avLst/>
          </a:prstGeom>
          <a:ln w="9525">
            <a:solidFill>
              <a:srgbClr val="D0E4EE"/>
            </a:solidFill>
            <a:prstDash val="solid"/>
          </a:ln>
          <a:effectLst>
            <a:outerShdw blurRad="63500" dist="38100" dir="5400000" algn="t" rotWithShape="0">
              <a:srgbClr val="0D2B55">
                <a:alpha val="30000"/>
              </a:srgbClr>
            </a:outerShdw>
          </a:effectLst>
        </p:spPr>
      </p:pic>
      <p:sp>
        <p:nvSpPr>
          <p:cNvPr id="5" name="Caption"/>
          <p:cNvSpPr/>
          <p:nvPr/>
        </p:nvSpPr>
        <p:spPr>
          <a:xfrm>
            <a:off x="274320" y="4862880"/>
            <a:ext cx="8595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fr-FR" sz="900" i="1" dirty="0">
                <a:solidFill>
                  <a:srgbClr val="5A7A8A"/>
                </a:solidFill>
              </a:rPr>
              <a:t>Interface check_uid.php – Accès autorisé : nom, prénom, UID, km parcourus, vitesse max — Actualisation automatique toutes les 5 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E8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D2B55"/>
          </a:solidFill>
          <a:ln w="12700">
            <a:solidFill>
              <a:srgbClr val="0D2B5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fr-FR" sz="2200" b="1" dirty="0">
                <a:solidFill>
                  <a:srgbClr val="FFFFFF"/>
                </a:solidFill>
              </a:rPr>
              <a:t>10 · Diagramme des exigences</a:t>
            </a:r>
            <a:endParaRPr lang="fr-FR" sz="2200" dirty="0"/>
          </a:p>
        </p:txBody>
      </p:sp>
      <p:pic>
        <p:nvPicPr>
          <p:cNvPr id="8" name="Picture 7" descr="exigencesminiracin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97939" y="1155840"/>
            <a:ext cx="6748122" cy="3800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D2B5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>
            <a:alphaModFix amt="65000"/>
          </a:blip>
          <a:srcRect l="0" r="0" t="0" b="0"/>
          <a:stretch/>
        </p:blipFill>
        <p:spPr>
          <a:xfrm>
            <a:off x="5029200" y="1028700"/>
            <a:ext cx="4114800" cy="30861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5303520" cy="5143500"/>
          </a:xfrm>
          <a:prstGeom prst="rect">
            <a:avLst/>
          </a:prstGeom>
          <a:solidFill>
            <a:srgbClr val="0D2B55">
              <a:alpha val="92000"/>
            </a:srgbClr>
          </a:solidFill>
          <a:ln w="12700">
            <a:solidFill>
              <a:srgbClr val="0D2B55"/>
            </a:solidFill>
            <a:prstDash val="solid"/>
          </a:ln>
        </p:spPr>
        <p:txBody>
          <a:bodyPr/>
          <a:p/>
        </p:txBody>
      </p:sp>
      <p:sp>
        <p:nvSpPr>
          <p:cNvPr id="4" name="Text 1"/>
          <p:cNvSpPr/>
          <p:nvPr/>
        </p:nvSpPr>
        <p:spPr>
          <a:xfrm>
            <a:off x="457200" y="45720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C9A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Conclusion</a:t>
            </a:r>
            <a:endParaRPr lang="en-US" sz="3200" dirty="0"/>
          </a:p>
        </p:txBody>
      </p:sp>
      <p:sp>
        <p:nvSpPr>
          <p:cNvPr id="5" name="Shape 2"/>
          <p:cNvSpPr/>
          <p:nvPr/>
        </p:nvSpPr>
        <p:spPr>
          <a:xfrm>
            <a:off x="457200" y="1280160"/>
            <a:ext cx="3657600" cy="0"/>
          </a:xfrm>
          <a:prstGeom prst="line">
            <a:avLst/>
          </a:prstGeom>
          <a:noFill/>
          <a:ln w="19050">
            <a:solidFill>
              <a:srgbClr val="21C9A0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457200" y="1417320"/>
            <a:ext cx="457200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</a:rPr>
              <a:t>NFC/RFID PN532 : lecture UID fiable &lt; 200 ms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</a:rPr>
              <a:t>Stack LAMP opérationnel sur Raspberry Pi 5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</a:rPr>
              <a:t>VPN Tailscale : accès distant sécurisé validé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</a:rPr>
              <a:t>Interface web temps réel (rafraîchissement 5 s)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</a:rPr>
              <a:t>Traçabilité complète des accès NFC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457200" y="470916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890A0"/>
                </a:solidFill>
              </a:rPr>
              <a:t>BTS CIEL ER · Lycée Baggio · 2025-2026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Revue de Projet – Banc d'Essai RC – BTS CIEL ER 2025-2026</dc:title>
  <dc:subject>PptxGenJS Presentation</dc:subject>
  <dc:creator>AIT AMIR Youssouf &amp; DUCHATEAU Edouard</dc:creator>
  <cp:lastModifiedBy>AIT AMIR Youssouf &amp; DUCHATEAU Edouard</cp:lastModifiedBy>
  <cp:revision>1</cp:revision>
  <dcterms:created xsi:type="dcterms:W3CDTF">2026-06-08T03:26:43Z</dcterms:created>
  <dcterms:modified xsi:type="dcterms:W3CDTF">2026-06-08T03:26:43Z</dcterms:modified>
</cp:coreProperties>
</file>