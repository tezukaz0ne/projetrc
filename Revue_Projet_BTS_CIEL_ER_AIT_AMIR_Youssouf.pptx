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24"/>
    <p:sldId id="274" r:id="rId25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php-dashboard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857250"/>
            <a:ext cx="4572000" cy="3429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2B55">
              <a:alpha val="95000"/>
            </a:srgbClr>
          </a:solidFill>
          <a:ln w="12700">
            <a:solidFill>
              <a:srgbClr val="0D2B55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846320" y="0"/>
            <a:ext cx="64008" cy="5143500"/>
          </a:xfrm>
          <a:prstGeom prst="rect">
            <a:avLst/>
          </a:prstGeom>
          <a:solidFill>
            <a:srgbClr val="21C9A0"/>
          </a:solidFill>
          <a:ln w="12700">
            <a:solidFill>
              <a:srgbClr val="21C9A0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200" y="3657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BTS CIEL ER · 2025-2026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229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fr-FR" sz="3200" b="1" dirty="0">
                <a:solidFill>
                  <a:srgbClr val="FFFFFF"/>
                </a:solidFill>
                <a:latin typeface="Calibri" pitchFamily="34" charset="0"/>
              </a:rPr>
              <a:t>Instrumentation d’un</a:t>
            </a:r>
          </a:p>
          <a:p>
            <a:pPr indent="0" marL="0">
              <a:buNone/>
            </a:pPr>
            <a:r>
              <a:rPr lang="fr-FR" sz="4000" b="1" dirty="0">
                <a:solidFill>
                  <a:srgbClr val="21C9A0"/>
                </a:solidFill>
                <a:latin typeface="Calibri" pitchFamily="34" charset="0"/>
              </a:rPr>
              <a:t>banc d’essai RC</a:t>
            </a:r>
            <a:endParaRPr lang="fr-FR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Revue de Projet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29260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AIT AMIR Youssouf  ·  DUCHATEAU Edouard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</a:rPr>
              <a:t>Encadrant : M. BEAU  ·  Partenaire : FVRC Mini RC de Marigny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90A0"/>
                </a:solidFill>
              </a:rPr>
              <a:t>Lycée Général et Technologique Baggio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Contexte &amp; identification du besoin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Architecture du système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Matériel du projet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Module NFC/RFID – Mise en œuvre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Serveur Raspberry Pi (LAMP)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Réseau &amp; VPN Tailscale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Développement logiciel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Module A6 – GSM &amp; alertes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Difficultés &amp; solutions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Diagramme des exigences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Contexte &amp; identification du besoin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337" y="1143000"/>
            <a:ext cx="2556446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389120" y="1143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Pourquoi ce projet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89120" y="16002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Le club FVRC – Mini RC de Marigny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participe à des compétitions officielles de voitures RC. Avant chaque course, les pilotes doivent optimiser leurs réglages sans outil de mesure adapté.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L'objectif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0" y="310896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Mesurer vitesse, tension, courant sur banc d'essai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Identifier les voitures par RFID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Enregistrer et visualiser les performances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Accès web depuis smartphone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4480560" cy="320040"/>
          </a:xfrm>
          <a:prstGeom prst="roundRect">
            <a:avLst>
              <a:gd name="adj" fmla="val 14286"/>
            </a:avLst>
          </a:prstGeom>
          <a:solidFill>
            <a:srgbClr val="21C9A0">
              <a:alpha val="8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Partenaire : FVRC · Normes compétition Mini RC de Marigny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Cas d'utilisation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48640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26480" y="128016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Commissaire de course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Gère et démarre la course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28600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2313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Employé (officiel)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Inscriptions &amp; séries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29184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3192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Participant (pilote)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36393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Réglages &amp; résultats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</a:rPr>
              <a:t>Système : banc d'essai instrumenté · normes FVRC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Architecture du système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21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C3A5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Couche Acquisition – Arduino UNO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NFC PN532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(I2C)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LM393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Vitesse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2464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0096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Courant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67728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(UART)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965960"/>
            <a:ext cx="0" cy="32004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USB série 115200 bds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30428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UID_Check.py (Python) – Relais Arduino ↔ Serveur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072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HTTP via Tailscale VPN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81528"/>
            <a:ext cx="8595360" cy="1097280"/>
          </a:xfrm>
          <a:prstGeom prst="rect">
            <a:avLst/>
          </a:prstGeom>
          <a:solidFill>
            <a:srgbClr val="1C3A5E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Serveur Raspberry Pi 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Apache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PHP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84832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4832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MariaDB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12464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0096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0096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67728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Tailscale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VPN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41788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Interface web / accès distant Tailscale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 PHP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Notebook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Jupyter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GSM A6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(prévu)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Matériel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13697"/>
            <a:ext cx="1691640" cy="15617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UNO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Acquisition locale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I2C / UART / USB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6040" y="1606163"/>
            <a:ext cx="1691640" cy="117679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PN532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NFC/RFID 13,56 MHz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Protocole I2C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1723423"/>
            <a:ext cx="1691640" cy="94227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Nextion 2,8"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Affichage tactile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UART 9600 bds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5160" y="1734781"/>
            <a:ext cx="1691640" cy="91955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Tag RFID Mifare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Identifiant voiture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UID unique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Capteurs de mesure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03512"/>
            <a:ext cx="2468880" cy="1799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Capteur LM393 – Vitesse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Fourche optique + disque codeur 20 encoches.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Mesure jusqu'à 30 000 tr/min.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N = compteur × 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279099"/>
            <a:ext cx="2468880" cy="164804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tension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Pont diviseur de tension.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0–12V → 0–5V ADC.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V = V_ADC × (R1+R2)/R2 × Vref/1024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264427"/>
            <a:ext cx="2468880" cy="167738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courant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Capteur à effet Hall (sans contact).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0–30A.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Tension proportionnelle au courant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Module NFC/RFID – Mise en œuvre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89565" y="1097280"/>
            <a:ext cx="3684309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3727"/>
            <a:ext cx="4114800" cy="25531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83280"/>
            <a:ext cx="41148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Détection I2C du module PN532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522937"/>
            <a:ext cx="4206240" cy="1434686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522937"/>
            <a:ext cx="4206240" cy="1434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Console Arduino – lecture UID tag NFC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Protocole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Câblage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I2C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 (VCC/GND/SDA/SCL)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✓ Choix retenu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SPI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6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Conflits bus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UART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Port partagé Nextion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Serveur Raspberry Pi – Stack LAMP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621478"/>
            <a:ext cx="2926080" cy="201484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74720" y="10972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11880" y="113385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Apache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0" y="113385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Serveur web – port 80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72135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75793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8.4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757934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check_uid.php – API + interface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234543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238201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MariaDB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2382012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utilisateurs / logs / perfs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96951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300609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phpMyAdmin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300609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Administration BDD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5935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363016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Dashboard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0" y="3630168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Infos utilisateur RFID en temps réel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16052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0F8E8"/>
          </a:solidFill>
          <a:ln w="10160">
            <a:solidFill>
              <a:srgbClr val="21C9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78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💾  Sauvegarde automatique MySQLdump – 30 jours – Cron job quotidien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Interface web – Contrôle d'accès NFC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795438"/>
            <a:ext cx="4206240" cy="2078403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✅  Accès autorisé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800484"/>
            <a:ext cx="4206240" cy="2068311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66344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</a:rPr>
              <a:t>❌  Accès refusé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Base de données MariaDB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utilisateurs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4703" y="1600200"/>
            <a:ext cx="1850994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NFC · Nom · Prénom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logs_acces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27832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· Nom · Statut · Date/heure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81344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5056" y="1600200"/>
            <a:ext cx="1504335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72784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Mesures banc d'essai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19272" y="1600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UID détecté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Nom de l'utilisateur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Statut : OK / KO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Date et heure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434340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Traçabilité complète de tous les accès NFC – Mémorisation 30 jours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Réseau &amp; VPN Tailscale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23554"/>
            <a:ext cx="5029200" cy="2490651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23555"/>
            <a:ext cx="5029200" cy="2490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Interface Tailscale – 3 machines connectées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97280"/>
          <a:ext cx="342900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6916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Machine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IP Tailscale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Serveur prod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Phase pilote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tezukaz0ne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PC développement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40680" y="31089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WireGuard (chiffrement bout en bout)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IP fixes 100.x.x.x – accès universel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Ping : 55 ms – Apache port 80 accessible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Authentification GitHub/Google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Développement logiciel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Firmware Arduino (C++)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Init NFC PN532 en I2C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Lecture UID (format hex)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Affichage Nextion via UART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Envoi UID→Python via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UID_Check.py (Python)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Écoute COM5 à 115 200 bds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Construction requête HTTP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Transmission UID au RPi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 résultat à l'Arduino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check_uid.php (PHP)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Mode API : ?uid=...&amp;api=1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Vérifie table utilisateurs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Log dans logs_acces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Retourne OK / KO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Notebook Jupyter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Import données MariaDB/CSV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Graphiques de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Statistiques descriptives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Comparaison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Phase de consolidation avant l'oral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188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PCB – remplacement breadboard par circuit imprimé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Finalisation code mesure LM393 + interruptions matérielles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Calibration capteurs tension et courant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MOYENNE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4231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Intégration Grafana – dashboards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Configuration plugin MariaDB pour Grafana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Interface Nextion avancée (graphiques, historiques)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118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61188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657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Module GSM A6 – notifications SMS pilotes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AT+CMGS – envoi résultats post-session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Alertes FVRC sur dépassements de seuils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754880"/>
            <a:ext cx="8595360" cy="201168"/>
          </a:xfrm>
          <a:prstGeom prst="roundRect">
            <a:avLst>
              <a:gd name="adj" fmla="val 18182"/>
            </a:avLst>
          </a:prstGeom>
          <a:solidFill>
            <a:srgbClr val="21C9A0">
              <a:alpha val="7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64024"/>
            <a:ext cx="8412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B55"/>
                </a:solidFill>
              </a:rPr>
              <a:t>Améliorations futures : écran 7" · WiFi ESP32 · app mobile Android/iOS · chronométrage intégré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· Difficultés rencontrées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Choix protocole PN532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441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0972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15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SPI → conflits → passage en I2C (stable, 4 fils)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UART multiples sur Arduino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8424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SoftwareSerial sur pins 10/11 pour Nextion, UART matériel libéré pour RPi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95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Nextion Editor – affichage dynamique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2432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77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95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Limitation à accès autorisé/refusé sur écran, détails sur interface 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VPN Tailscale – premier démarrage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26440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35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MàJ kernel + règles iptables résolues en une session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Coordination binôme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90448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576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75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Git partagé, répartition claire des tâches (partie commune / personnelle)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Disponibilité matériel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45445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2976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Commandes anticipées, tests avec substituts en attendant livraison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fr-FR" sz="2200" b="1" dirty="0">
                <a:solidFill>
                  <a:srgbClr val="FFFFFF"/>
                </a:solidFill>
              </a:rPr>
              <a:t>08 · Module A6 – GSM &amp; Alertes</a:t>
            </a:r>
          </a:p>
        </p:txBody>
      </p:sp>
      <p:sp>
        <p:nvSpPr>
          <p:cNvPr id="4" name="Shape Left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blurRad="38100" dist="12700" dir="5400000" algn="t" rotWithShape="0">
              <a:srgbClr val="B8D4E0">
                <a:alpha val="40000"/>
              </a:srgbClr>
            </a:outerShdw>
          </a:effectLst>
        </p:spPr>
      </p:sp>
      <p:sp>
        <p:nvSpPr>
          <p:cNvPr id="5" name="Text Left"/>
          <p:cNvSpPr/>
          <p:nvPr/>
        </p:nvSpPr>
        <p:spPr>
          <a:xfrm>
            <a:off x="457200" y="118872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fr-FR" sz="1400" b="1" dirty="0">
                <a:solidFill>
                  <a:srgbClr val="1C7293"/>
                </a:solidFill>
              </a:rPr>
              <a:t>Présentation du module A6</a:t>
            </a:r>
          </a:p>
          <a:p>
            <a:pPr indent="0" marL="0">
              <a:lnSpc>
                <a:spcPts val="1400"/>
              </a:lnSpc>
              <a:buNone/>
            </a:pPr>
            <a:endParaRPr lang="fr-FR" sz="1000" dirty="0"/>
          </a:p>
          <a:p>
            <a:pPr marL="342900" indent="-342900">
              <a:buSzPct val="100000"/>
              <a:buChar char="▸"/>
            </a:pPr>
            <a:r>
              <a:rPr lang="fr-FR" sz="1100" b="1" dirty="0">
                <a:solidFill>
                  <a:srgbClr val="1A2B3C"/>
                </a:solidFill>
              </a:rPr>
              <a:t xml:space="preserve">Type : </a:t>
            </a:r>
            <a:r>
              <a:rPr lang="fr-FR" sz="1100" dirty="0">
                <a:solidFill>
                  <a:srgbClr val="1A2B3C"/>
                </a:solidFill>
              </a:rPr>
              <a:t>Module GSM/GPRS quad-band</a:t>
            </a:r>
          </a:p>
          <a:p>
            <a:pPr marL="342900" indent="-342900">
              <a:buSzPct val="100000"/>
              <a:buChar char="▸"/>
            </a:pPr>
            <a:r>
              <a:rPr lang="fr-FR" sz="1100" b="1" dirty="0">
                <a:solidFill>
                  <a:srgbClr val="1A2B3C"/>
                </a:solidFill>
              </a:rPr>
              <a:t xml:space="preserve">Connexion : </a:t>
            </a:r>
            <a:r>
              <a:rPr lang="fr-FR" sz="1100" dirty="0">
                <a:solidFill>
                  <a:srgbClr val="1A2B3C"/>
                </a:solidFill>
              </a:rPr>
              <a:t>UART (TX/RX) avec l’Arduino</a:t>
            </a:r>
          </a:p>
          <a:p>
            <a:pPr marL="342900" indent="-342900">
              <a:buSzPct val="100000"/>
              <a:buChar char="▸"/>
            </a:pPr>
            <a:r>
              <a:rPr lang="fr-FR" sz="1100" b="1" dirty="0">
                <a:solidFill>
                  <a:srgbClr val="1A2B3C"/>
                </a:solidFill>
              </a:rPr>
              <a:t xml:space="preserve">Alimentation : </a:t>
            </a:r>
            <a:r>
              <a:rPr lang="fr-FR" sz="1100" dirty="0">
                <a:solidFill>
                  <a:srgbClr val="1A2B3C"/>
                </a:solidFill>
              </a:rPr>
              <a:t>3,4 – 4,2 V (li-ion)</a:t>
            </a:r>
          </a:p>
          <a:p>
            <a:pPr indent="0" marL="0">
              <a:lnSpc>
                <a:spcPts val="1400"/>
              </a:lnSpc>
              <a:buNone/>
            </a:pPr>
            <a:endParaRPr lang="fr-FR" sz="1000" dirty="0"/>
          </a:p>
          <a:p>
            <a:pPr indent="0" marL="0">
              <a:buNone/>
            </a:pPr>
            <a:r>
              <a:rPr lang="fr-FR" sz="1400" b="1" dirty="0">
                <a:solidFill>
                  <a:srgbClr val="1C7293"/>
                </a:solidFill>
              </a:rPr>
              <a:t>Fonctions implémentées</a:t>
            </a:r>
          </a:p>
          <a:p>
            <a:pPr indent="0" marL="0">
              <a:lnSpc>
                <a:spcPts val="1000"/>
              </a:lnSpc>
              <a:buNone/>
            </a:pPr>
            <a:endParaRPr lang="fr-FR" sz="900" dirty="0"/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1A2B3C"/>
                </a:solidFill>
              </a:rPr>
              <a:t>Envoi de SMS d’alerte lors d’accès refusé</a:t>
            </a:r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1A2B3C"/>
                </a:solidFill>
              </a:rPr>
              <a:t>Commande AT via Arduino Uno</a:t>
            </a:r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1A2B3C"/>
                </a:solidFill>
              </a:rPr>
              <a:t>Notification avec nom, prénom et UID du badge</a:t>
            </a:r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1A2B3C"/>
                </a:solidFill>
              </a:rPr>
              <a:t>Envoi vers numéro enregistré en BDD (table utilisateurs)</a:t>
            </a:r>
          </a:p>
          <a:p>
            <a:pPr indent="0" marL="0">
              <a:lnSpc>
                <a:spcPts val="1400"/>
              </a:lnSpc>
              <a:buNone/>
            </a:pPr>
            <a:endParaRPr lang="fr-FR" sz="1000" dirty="0"/>
          </a:p>
          <a:p>
            <a:pPr indent="0" marL="0">
              <a:buNone/>
            </a:pPr>
            <a:r>
              <a:rPr lang="fr-FR" sz="1400" b="1" dirty="0">
                <a:solidFill>
                  <a:srgbClr val="1C7293"/>
                </a:solidFill>
              </a:rPr>
              <a:t>Statut</a:t>
            </a:r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21C9A0"/>
                </a:solidFill>
              </a:rPr>
              <a:t>Tests d’envoi SMS validés en configuration banc</a:t>
            </a:r>
          </a:p>
          <a:p>
            <a:pPr marL="342900" indent="-342900">
              <a:buSzPct val="100000"/>
              <a:buChar char="▸"/>
            </a:pPr>
            <a:r>
              <a:rPr lang="fr-FR" sz="1100" dirty="0">
                <a:solidFill>
                  <a:srgbClr val="F4844A"/>
                </a:solidFill>
              </a:rPr>
              <a:t>Intégration complète avec Python (Raspberry Pi) en cours</a:t>
            </a:r>
          </a:p>
        </p:txBody>
      </p:sp>
      <p:sp>
        <p:nvSpPr>
          <p:cNvPr id="10" name="Shape Right"/>
          <p:cNvSpPr/>
          <p:nvPr/>
        </p:nvSpPr>
        <p:spPr>
          <a:xfrm>
            <a:off x="4663440" y="1097280"/>
            <a:ext cx="4206240" cy="1371600"/>
          </a:xfrm>
          <a:prstGeom prst="rect">
            <a:avLst/>
          </a:prstGeom>
          <a:solidFill>
            <a:srgbClr val="0D2B55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Right Title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fr-FR" sz="1000" b="1" i="1" dirty="0">
                <a:solidFill>
                  <a:srgbClr val="21C9A0"/>
                </a:solidFill>
              </a:rPr>
              <a:t>// Exemple de commandes AT</a:t>
            </a:r>
          </a:p>
        </p:txBody>
      </p:sp>
      <p:sp>
        <p:nvSpPr>
          <p:cNvPr id="12" name="Text Code"/>
          <p:cNvSpPr/>
          <p:nvPr/>
        </p:nvSpPr>
        <p:spPr>
          <a:xfrm>
            <a:off x="4846320" y="14173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fr-FR" sz="1000" dirty="0">
                <a:solidFill>
                  <a:srgbClr val="A8C8D8"/>
                </a:solidFill>
                <a:latin typeface="Courier New" pitchFamily="49" charset="0"/>
              </a:rPr>
              <a:t>AT            // Test connexion</a:t>
            </a:r>
          </a:p>
          <a:p>
            <a:pPr indent="0" marL="0">
              <a:buNone/>
            </a:pPr>
            <a:r>
              <a:rPr lang="fr-FR" sz="1000" dirty="0">
                <a:solidFill>
                  <a:srgbClr val="A8C8D8"/>
                </a:solidFill>
                <a:latin typeface="Courier New" pitchFamily="49" charset="0"/>
              </a:rPr>
              <a:t>AT+CMGF=1     // Mode SMS texte</a:t>
            </a:r>
          </a:p>
          <a:p>
            <a:pPr indent="0" marL="0">
              <a:buNone/>
            </a:pPr>
            <a:r>
              <a:rPr lang="fr-FR" sz="1000" dirty="0">
                <a:solidFill>
                  <a:srgbClr val="21C9A0"/>
                </a:solidFill>
                <a:latin typeface="Courier New" pitchFamily="49" charset="0"/>
              </a:rPr>
              <a:t>AT+CMGS="+33..."  // Envoi SMS</a:t>
            </a:r>
          </a:p>
          <a:p>
            <a:pPr indent="0" marL="0">
              <a:buNone/>
            </a:pPr>
            <a:r>
              <a:rPr lang="fr-FR" sz="1000" dirty="0">
                <a:solidFill>
                  <a:srgbClr val="F4844A"/>
                </a:solidFill>
                <a:latin typeface="Courier New" pitchFamily="49" charset="0"/>
              </a:rPr>
              <a:t>"ACCES REFUSE: Youssouf (UID: 4BC2CD01)"</a:t>
            </a:r>
          </a:p>
        </p:txBody>
      </p:sp>
      <p:sp>
        <p:nvSpPr>
          <p:cNvPr id="13" name="Card A6 Specs"/>
          <p:cNvSpPr/>
          <p:nvPr/>
        </p:nvSpPr>
        <p:spPr>
          <a:xfrm>
            <a:off x="4663440" y="256032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blurRad="38100" dist="12700" dir="5400000" algn="t" rotWithShape="0">
              <a:srgbClr val="B8D4E0">
                <a:alpha val="40000"/>
              </a:srgbClr>
            </a:outerShdw>
          </a:effectLst>
        </p:spPr>
      </p:sp>
      <p:sp>
        <p:nvSpPr>
          <p:cNvPr id="14" name="Text A6 Specs"/>
          <p:cNvSpPr/>
          <p:nvPr/>
        </p:nvSpPr>
        <p:spPr>
          <a:xfrm>
            <a:off x="4846320" y="26517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fr-FR" sz="1300" b="1" dirty="0">
                <a:solidFill>
                  <a:srgbClr val="1C7293"/>
                </a:solidFill>
              </a:rPr>
              <a:t>Caractéristiques techniques</a:t>
            </a:r>
          </a:p>
          <a:p>
            <a:pPr indent="0" marL="0">
              <a:lnSpc>
                <a:spcPts val="900"/>
              </a:lnSpc>
              <a:buNone/>
            </a:pPr>
            <a:endParaRPr lang="fr-FR" sz="800" dirty="0"/>
          </a:p>
          <a:p>
            <a:pPr marL="274320" indent="-274320">
              <a:buSzPct val="100000"/>
              <a:buChar char="●"/>
            </a:pPr>
            <a:r>
              <a:rPr lang="fr-FR" sz="1000" b="1" dirty="0">
                <a:solidFill>
                  <a:srgbClr val="1A2B3C"/>
                </a:solidFill>
              </a:rPr>
              <a:t xml:space="preserve">Bandes : </a:t>
            </a:r>
            <a:r>
              <a:rPr lang="fr-FR" sz="1000" dirty="0">
                <a:solidFill>
                  <a:srgbClr val="1A2B3C"/>
                </a:solidFill>
              </a:rPr>
              <a:t>850/900/1800/1900 MHz</a:t>
            </a:r>
          </a:p>
          <a:p>
            <a:pPr marL="274320" indent="-274320">
              <a:buSzPct val="100000"/>
              <a:buChar char="●"/>
            </a:pPr>
            <a:r>
              <a:rPr lang="fr-FR" sz="1000" b="1" dirty="0">
                <a:solidFill>
                  <a:srgbClr val="1A2B3C"/>
                </a:solidFill>
              </a:rPr>
              <a:t xml:space="preserve">Interface : </a:t>
            </a:r>
            <a:r>
              <a:rPr lang="fr-FR" sz="1000" dirty="0">
                <a:solidFill>
                  <a:srgbClr val="1A2B3C"/>
                </a:solidFill>
              </a:rPr>
              <a:t>UART 115200 baud</a:t>
            </a:r>
          </a:p>
          <a:p>
            <a:pPr marL="274320" indent="-274320">
              <a:buSzPct val="100000"/>
              <a:buChar char="●"/>
            </a:pPr>
            <a:r>
              <a:rPr lang="fr-FR" sz="1000" b="1" dirty="0">
                <a:solidFill>
                  <a:srgbClr val="1A2B3C"/>
                </a:solidFill>
              </a:rPr>
              <a:t>SMS / Appel / GPRS</a:t>
            </a:r>
          </a:p>
          <a:p>
            <a:pPr marL="274320" indent="-274320">
              <a:buSzPct val="100000"/>
              <a:buChar char="●"/>
            </a:pPr>
            <a:r>
              <a:rPr lang="fr-FR" sz="1000" b="1" dirty="0">
                <a:solidFill>
                  <a:srgbClr val="1A2B3C"/>
                </a:solidFill>
              </a:rPr>
              <a:t xml:space="preserve">Taille : </a:t>
            </a:r>
            <a:r>
              <a:rPr lang="fr-FR" sz="1000" dirty="0">
                <a:solidFill>
                  <a:srgbClr val="1A2B3C"/>
                </a:solidFill>
              </a:rPr>
              <a:t>24 x 24 x 4 mm</a:t>
            </a:r>
          </a:p>
          <a:p>
            <a:pPr marL="274320" indent="-274320">
              <a:buSzPct val="100000"/>
              <a:buChar char="●"/>
            </a:pPr>
            <a:r>
              <a:rPr lang="fr-FR" sz="1000" b="1" dirty="0">
                <a:solidFill>
                  <a:srgbClr val="1A2B3C"/>
                </a:solidFill>
              </a:rPr>
              <a:t>Slot SIM intégré</a:t>
            </a:r>
          </a:p>
        </p:txBody>
      </p:sp>
      <p:sp>
        <p:nvSpPr>
          <p:cNvPr id="15" name="Shape Bottom"/>
          <p:cNvSpPr/>
          <p:nvPr/>
        </p:nvSpPr>
        <p:spPr>
          <a:xfrm>
            <a:off x="274320" y="4572000"/>
            <a:ext cx="8595360" cy="502920"/>
          </a:xfrm>
          <a:prstGeom prst="roundRect">
            <a:avLst>
              <a:gd name="adj" fmla="val 9231"/>
            </a:avLst>
          </a:prstGeom>
          <a:solidFill>
            <a:srgbClr val="E8F8F2"/>
          </a:solidFill>
          <a:ln w="10160">
            <a:solidFill>
              <a:srgbClr val="21C9A0"/>
            </a:solidFill>
            <a:prstDash val="solid"/>
          </a:ln>
        </p:spPr>
      </p:sp>
      <p:sp>
        <p:nvSpPr>
          <p:cNvPr id="16" name="Text Bottom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fr-FR" sz="1000" b="1" dirty="0">
                <a:solidFill>
                  <a:srgbClr val="1C7293"/>
                </a:solidFill>
              </a:rPr>
              <a:t>📱  Intégration prévue : Arduino Uno → A6 → SMS → Numéro responsable — déclenché à chaque accès refusé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fr-FR" sz="2200" b="1" dirty="0">
                <a:solidFill>
                  <a:srgbClr val="FFFFFF"/>
                </a:solidFill>
              </a:rPr>
              <a:t>05 · Tableau de bord PHP – Infos utilisateur en temps réel</a:t>
            </a:r>
          </a:p>
        </p:txBody>
      </p:sp>
      <p:pic>
        <p:nvPicPr>
          <p:cNvPr id="4" name="Image PHP Dashboard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7365" y="1205840"/>
            <a:ext cx="7329270" cy="3600000"/>
          </a:xfrm>
          <a:prstGeom prst="rect">
            <a:avLst/>
          </a:prstGeom>
          <a:ln w="9525">
            <a:solidFill>
              <a:srgbClr val="D0E4EE"/>
            </a:solidFill>
            <a:prstDash val="solid"/>
          </a:ln>
          <a:effectLst>
            <a:outerShdw blurRad="63500" dist="38100" dir="5400000" algn="t" rotWithShape="0">
              <a:srgbClr val="0D2B55">
                <a:alpha val="30000"/>
              </a:srgbClr>
            </a:outerShdw>
          </a:effectLst>
        </p:spPr>
      </p:pic>
      <p:sp>
        <p:nvSpPr>
          <p:cNvPr id="5" name="Caption"/>
          <p:cNvSpPr/>
          <p:nvPr/>
        </p:nvSpPr>
        <p:spPr>
          <a:xfrm>
            <a:off x="274320" y="4862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fr-FR" sz="900" i="1" dirty="0">
                <a:solidFill>
                  <a:srgbClr val="5A7A8A"/>
                </a:solidFill>
              </a:rPr>
              <a:t>Interface check_uid.php – Accès autorisé : nom, prénom, UID, km parcourus, vitesse max — Actualisation automatique toutes les 5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fr-FR" sz="2200" b="1" dirty="0">
                <a:solidFill>
                  <a:srgbClr val="FFFFFF"/>
                </a:solidFill>
              </a:rPr>
              <a:t>10 · Diagramme des exigences</a:t>
            </a:r>
            <a:endParaRPr lang="fr-FR" sz="2200" dirty="0"/>
          </a:p>
        </p:txBody>
      </p:sp>
      <p:pic>
        <p:nvPicPr>
          <p:cNvPr id="8" name="Picture 7" descr="exigencesminirac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939" y="1155840"/>
            <a:ext cx="6748122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5029200" y="1028700"/>
            <a:ext cx="4114800" cy="3086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2B55">
              <a:alpha val="92000"/>
            </a:srgbClr>
          </a:solidFill>
          <a:ln w="12700">
            <a:solidFill>
              <a:srgbClr val="0D2B55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4173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NFC/RFID PN532 : lecture UID fiable &lt; 200 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Stack LAMP opérationnel sur Raspberry Pi 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VPN Tailscale : accès distant sécurisé validé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Interface web temps réel (rafraîchissement 5 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Traçabilité complète des accès NFC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90A0"/>
                </a:solidFill>
              </a:rPr>
              <a:t>BTS CIEL ER · Lycée Baggio ·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Revue de Projet – Banc d'Essai RC – BTS CIEL ER 2025-2026</dc:title>
  <dc:subject>PptxGenJS Presentation</dc:subject>
  <dc:creator>AIT AMIR Youssouf &amp; DUCHATEAU Edouard</dc:creator>
  <cp:lastModifiedBy>AIT AMIR Youssouf &amp; DUCHATEAU Edouard</cp:lastModifiedBy>
  <cp:revision>1</cp:revision>
  <dcterms:created xsi:type="dcterms:W3CDTF">2026-06-08T03:26:43Z</dcterms:created>
  <dcterms:modified xsi:type="dcterms:W3CDTF">2026-06-08T03:26:43Z</dcterms:modified>
</cp:coreProperties>
</file>